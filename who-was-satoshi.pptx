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cf757af-7898-4851-c453-f69f4a1c64db}">
          <p14:sldIdLst>
            <p14:sldId id="256"/>
          </p14:sldIdLst>
        </p14:section>
        <p14:section name="I · The Mathematician" id="{9c27f190-173f-a13d-b15f-ad52e20ae7b7}">
          <p14:sldIdLst>
            <p14:sldId id="257"/>
            <p14:sldId id="258"/>
            <p14:sldId id="259"/>
            <p14:sldId id="260"/>
            <p14:sldId id="261"/>
            <p14:sldId id="262"/>
            <p14:sldId id="263"/>
          </p14:sldIdLst>
        </p14:section>
        <p14:section name="II · Trust and Privacy" id="{a5a141d5-047e-1bd4-a307-bca15edfff57}">
          <p14:sldIdLst>
            <p14:sldId id="264"/>
            <p14:sldId id="265"/>
            <p14:sldId id="266"/>
            <p14:sldId id="267"/>
            <p14:sldId id="268"/>
            <p14:sldId id="269"/>
            <p14:sldId id="270"/>
            <p14:sldId id="271"/>
          </p14:sldIdLst>
        </p14:section>
        <p14:section name="III · The Small World" id="{636b5ecc-c1c3-b780-3981-ca9c83828fa4}">
          <p14:sldIdLst>
            <p14:sldId id="272"/>
            <p14:sldId id="273"/>
            <p14:sldId id="274"/>
            <p14:sldId id="275"/>
            <p14:sldId id="276"/>
            <p14:sldId id="277"/>
            <p14:sldId id="278"/>
            <p14:sldId id="279"/>
            <p14:sldId id="280"/>
            <p14:sldId id="281"/>
            <p14:sldId id="282"/>
            <p14:sldId id="283"/>
            <p14:sldId id="284"/>
            <p14:sldId id="285"/>
            <p14:sldId id="286"/>
          </p14:sldIdLst>
        </p14:section>
        <p14:section name="IV · RPOW" id="{e2bb6433-02ba-263a-2338-1d785a0289cc}">
          <p14:sldIdLst>
            <p14:sldId id="287"/>
            <p14:sldId id="288"/>
            <p14:sldId id="289"/>
            <p14:sldId id="290"/>
            <p14:sldId id="291"/>
            <p14:sldId id="292"/>
            <p14:sldId id="293"/>
            <p14:sldId id="294"/>
            <p14:sldId id="295"/>
            <p14:sldId id="296"/>
            <p14:sldId id="297"/>
            <p14:sldId id="298"/>
            <p14:sldId id="299"/>
            <p14:sldId id="300"/>
          </p14:sldIdLst>
        </p14:section>
        <p14:section name="V · The Silence" id="{4c75ae26-ea1f-2a5b-d5a2-41ec2bbfa585}">
          <p14:sldIdLst>
            <p14:sldId id="301"/>
            <p14:sldId id="302"/>
            <p14:sldId id="303"/>
            <p14:sldId id="304"/>
            <p14:sldId id="305"/>
            <p14:sldId id="306"/>
            <p14:sldId id="307"/>
            <p14:sldId id="308"/>
            <p14:sldId id="309"/>
            <p14:sldId id="310"/>
            <p14:sldId id="311"/>
          </p14:sldIdLst>
        </p14:section>
        <p14:section name="VI · Bitcoin" id="{5e630f2c-e1dc-2866-beb8-e555aefa0c5c}">
          <p14:sldIdLst>
            <p14:sldId id="312"/>
            <p14:sldId id="313"/>
            <p14:sldId id="314"/>
            <p14:sldId id="315"/>
            <p14:sldId id="316"/>
            <p14:sldId id="317"/>
            <p14:sldId id="318"/>
            <p14:sldId id="319"/>
            <p14:sldId id="320"/>
            <p14:sldId id="321"/>
            <p14:sldId id="322"/>
            <p14:sldId id="323"/>
            <p14:sldId id="324"/>
            <p14:sldId id="325"/>
            <p14:sldId id="326"/>
            <p14:sldId id="327"/>
          </p14:sldIdLst>
        </p14:section>
        <p14:section name="VII · The Theory" id="{1a1d60aa-e042-82ef-42be-754908a80666}">
          <p14:sldIdLst>
            <p14:sldId id="328"/>
            <p14:sldId id="329"/>
            <p14:sldId id="330"/>
            <p14:sldId id="331"/>
            <p14:sldId id="332"/>
            <p14:sldId id="333"/>
            <p14:sldId id="334"/>
            <p14:sldId id="335"/>
          </p14:sldIdLst>
        </p14:section>
        <p14:section name="VIII · Hal" id="{78f2bf1b-1160-79f4-5b0f-948acf91a099}">
          <p14:sldIdLst>
            <p14:sldId id="336"/>
            <p14:sldId id="337"/>
            <p14:sldId id="338"/>
            <p14:sldId id="339"/>
            <p14:sldId id="340"/>
            <p14:sldId id="341"/>
            <p14:sldId id="3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that apply to the whole deck (from the original presenter notes):</a:t>
            </a:r>
          </a:p>
          <a:p>
            <a:endParaRPr lang="en-US" dirty="0"/>
          </a:p>
          <a:p>
            <a:r>
              <a:rPr lang="en-US" dirty="0"/>
              <a:t>The photograph/document is historical where explicitly described as such. Text-only editorial pages are not archival facsimiles. Hypotheses about Satoshi authorship are unproven.</a:t>
            </a:r>
          </a:p>
          <a:p>
            <a:endParaRPr lang="en-US" dirty="0"/>
          </a:p>
          <a:p>
            <a:r>
              <a:rPr lang="en-US" dirty="0"/>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1972, Hal Finney was a mathematically gifted teenager in Southern California. Long before he became a cryptographer, he was drawn to abstract problems—problems with precise answers that could take hours to find.</a:t>
            </a:r>
          </a:p>
          <a:p>
            <a:endParaRPr lang="en-US" dirty="0"/>
          </a:p>
          <a:p>
            <a:r>
              <a:rPr lang="en-US" dirty="0"/>
              <a:t>Source: Photo attribution and date to be documented from original newspaper archive.</a:t>
            </a:r>
          </a:p>
          <a:p>
            <a:endParaRPr lang="en-US" dirty="0"/>
          </a:p>
          <a:p>
            <a:r>
              <a:rPr lang="en-US" dirty="0"/>
              <a:t>(Original scene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graduated from Arcadia High School as valedictorian. Just a few miles away stood Caltech, one of the most demanding science and engineering colleges in the world. In 1974, he entered as a mathematics student.</a:t>
            </a:r>
          </a:p>
          <a:p>
            <a:endParaRPr lang="en-US" dirty="0"/>
          </a:p>
          <a:p>
            <a:r>
              <a:rPr lang="en-US" dirty="0"/>
              <a:t>Source: Hal biographical profile, Alcor; map distances approximate.</a:t>
            </a:r>
          </a:p>
          <a:p>
            <a:endParaRPr lang="en-US" dirty="0"/>
          </a:p>
          <a:p>
            <a:r>
              <a:rPr lang="en-US" dirty="0"/>
              <a:t>(Original scene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institution devoted almost entirely to mathematics, physics, and engineering. For Hal, the attraction was not prestige. It was the chance to work on difficult technical problems—and increasingly, to program computers.</a:t>
            </a:r>
          </a:p>
          <a:p>
            <a:endParaRPr lang="en-US" dirty="0"/>
          </a:p>
          <a:p>
            <a:r>
              <a:rPr lang="en-US" dirty="0"/>
              <a:t>Source: Family biography and Hal's interviews.</a:t>
            </a:r>
          </a:p>
          <a:p>
            <a:endParaRPr lang="en-US" dirty="0"/>
          </a:p>
          <a:p>
            <a:r>
              <a:rPr lang="en-US" dirty="0"/>
              <a:t>(Original scene 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Feller's *An Introduction to Probability Theory and Its Applications* was a classic text of the era. Much later, an anonymous inventor called Satoshi Nakamoto would cite Feller while analyzing Bitcoin's security. Did that mathematical background matter?</a:t>
            </a:r>
          </a:p>
          <a:p>
            <a:endParaRPr lang="en-US" dirty="0"/>
          </a:p>
          <a:p>
            <a:r>
              <a:rPr lang="en-US" dirty="0"/>
              <a:t>Source: Bitcoin whitepaper bibliography; no evidence Hal specifically studied Feller. Do not claim he did.</a:t>
            </a:r>
          </a:p>
          <a:p>
            <a:endParaRPr lang="en-US" dirty="0"/>
          </a:p>
          <a:p>
            <a:r>
              <a:rPr lang="en-US" dirty="0"/>
              <a:t>(Original scene 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finishing Caltech, Hal began working professionally at APh Technological Consulting. His future wife Fran was already part of his life. This was the beginning of a partnership that would last through remarkable achievements and extraordinary hardship.</a:t>
            </a:r>
          </a:p>
          <a:p>
            <a:endParaRPr lang="en-US" dirty="0"/>
          </a:p>
          <a:p>
            <a:r>
              <a:rPr lang="en-US" dirty="0"/>
              <a:t>Source: Alcor family-supported profile; exact image credit to verify.</a:t>
            </a:r>
          </a:p>
          <a:p>
            <a:endParaRPr lang="en-US" dirty="0"/>
          </a:p>
          <a:p>
            <a:r>
              <a:rPr lang="en-US" dirty="0"/>
              <a:t>(Original scene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graduated from Caltech in 1979 and programmed software for commercial machines, including Mattel's Intellivision. Before cryptography or Bitcoin, he learned to make sophisticated systems work with extraordinarily limited memory and computing power.</a:t>
            </a:r>
          </a:p>
          <a:p>
            <a:endParaRPr lang="en-US" dirty="0"/>
          </a:p>
          <a:p>
            <a:r>
              <a:rPr lang="en-US" dirty="0"/>
              <a:t>Source: Hal interview about APh and Intellivision work.</a:t>
            </a:r>
          </a:p>
          <a:p>
            <a:endParaRPr lang="en-US" dirty="0"/>
          </a:p>
          <a:p>
            <a:r>
              <a:rPr lang="en-US" dirty="0"/>
              <a:t>(Original scene 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Hal was becoming a professional programmer, another researcher was asking a radical question: how can people who distrust one another operate a trustworthy computer system? His name was David Chaum.</a:t>
            </a:r>
          </a:p>
          <a:p>
            <a:endParaRPr lang="en-US" dirty="0"/>
          </a:p>
          <a:p>
            <a:r>
              <a:rPr lang="en-US" dirty="0"/>
              <a:t>Source: Chaum publication record; photo date still needs verification.</a:t>
            </a:r>
          </a:p>
          <a:p>
            <a:endParaRPr lang="en-US" dirty="0"/>
          </a:p>
          <a:p>
            <a:r>
              <a:rPr lang="en-US" dirty="0"/>
              <a:t>(Original scene 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Berkeley, Chaum completed a dissertation about computer systems maintained by mutually suspicious groups. The problem of trust would become central to digital money. It would also become central to Bitcoin.</a:t>
            </a:r>
          </a:p>
          <a:p>
            <a:endParaRPr lang="en-US" dirty="0"/>
          </a:p>
          <a:p>
            <a:r>
              <a:rPr lang="en-US" dirty="0"/>
              <a:t>Source: UC Berkeley 1982 dissertation record.</a:t>
            </a:r>
          </a:p>
          <a:p>
            <a:endParaRPr lang="en-US" dirty="0"/>
          </a:p>
          <a:p>
            <a:r>
              <a:rPr lang="en-US" dirty="0"/>
              <a:t>(Original scene 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 imagined electronic payments that might preserve the privacy of physical cash. His blind-signature research offered a way to verify a payment token without automatically revealing who had received it. Digital money was becoming a serious cryptographic project.</a:t>
            </a:r>
          </a:p>
          <a:p>
            <a:endParaRPr lang="en-US" dirty="0"/>
          </a:p>
          <a:p>
            <a:r>
              <a:rPr lang="en-US" dirty="0"/>
              <a:t>Source: Chaum, CRYPTO '82 paper.</a:t>
            </a:r>
          </a:p>
          <a:p>
            <a:endParaRPr lang="en-US" dirty="0"/>
          </a:p>
          <a:p>
            <a:r>
              <a:rPr lang="en-US" dirty="0"/>
              <a:t>(Original scene 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 Zimmermann released Pretty Good Privacy, or PGP, bringing strong encryption to ordinary computer users. Hal Finney contributed as a programmer. What began as software for private messages became a cause: individuals should be able to protect their communications.</a:t>
            </a:r>
          </a:p>
          <a:p>
            <a:endParaRPr lang="en-US" dirty="0"/>
          </a:p>
          <a:p>
            <a:r>
              <a:rPr lang="en-US" dirty="0"/>
              <a:t>Source: PGP history; Hal family biography.</a:t>
            </a:r>
          </a:p>
          <a:p>
            <a:endParaRPr lang="en-US" dirty="0"/>
          </a:p>
          <a:p>
            <a:r>
              <a:rPr lang="en-US" dirty="0"/>
              <a:t>(Original scene 10)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Cynthia Dwork and Moni Naor proposed a strange answer to junk email: make the sender perform a little computation first.</a:t>
            </a:r>
          </a:p>
          <a:p>
            <a:endParaRPr lang="en-US" dirty="0"/>
          </a:p>
          <a:p>
            <a:r>
              <a:rPr lang="en-US" dirty="0"/>
              <a:t>Source: CRYPTO '92 paper, published 1993. Presenter may add personal recollections of discussing proof of work with Cynthia Dwork; these are firsthand recollections, not independently verified quotations.</a:t>
            </a:r>
          </a:p>
          <a:p>
            <a:endParaRPr lang="en-US" dirty="0"/>
          </a:p>
          <a:p>
            <a:r>
              <a:rPr lang="en-US" dirty="0"/>
              <a:t>(Original scene 11)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would be expensive to produce, but inexpensive to verify. They were describing an ancestor of proof of work.</a:t>
            </a:r>
          </a:p>
          <a:p>
            <a:endParaRPr lang="en-US" dirty="0"/>
          </a:p>
          <a:p>
            <a:r>
              <a:rPr lang="en-US" dirty="0"/>
              <a:t>Source: CRYPTO '92 paper, published 1993. Presenter may add personal recollections of discussing proof of work with Cynthia Dwork; these are firsthand recollections, not independently verified quotations.</a:t>
            </a:r>
          </a:p>
          <a:p>
            <a:endParaRPr lang="en-US" dirty="0"/>
          </a:p>
          <a:p>
            <a:r>
              <a:rPr lang="en-US" dirty="0"/>
              <a:t>(Original scene 11)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community called the Cypherpunks argued that privacy would have to be built with software, not merely promised by law. These programmers and cryptographers debated pseudonyms, anonymous communication, and money that could move without permission.</a:t>
            </a:r>
          </a:p>
          <a:p>
            <a:endParaRPr lang="en-US" dirty="0"/>
          </a:p>
          <a:p>
            <a:r>
              <a:rPr lang="en-US" dirty="0"/>
              <a:t>Source: WIRED 1993 feature; original Cypherpunk mailing-list records.</a:t>
            </a:r>
          </a:p>
          <a:p>
            <a:endParaRPr lang="en-US" dirty="0"/>
          </a:p>
          <a:p>
            <a:r>
              <a:rPr lang="en-US" dirty="0"/>
              <a:t>(Original scene 12)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Hal's cryptographic expertise became his professional career when he joined the commercial PGP company. In this world he met or worked with people who would later appear in the Bitcoin origin story. One was a younger cryptographer named Len Sassaman.</a:t>
            </a:r>
          </a:p>
          <a:p>
            <a:endParaRPr lang="en-US" dirty="0"/>
          </a:p>
          <a:p>
            <a:r>
              <a:rPr lang="en-US" dirty="0"/>
              <a:t>Source: Family biography, PGP company chronology. Precise Hal–Len employment overlap to verify.</a:t>
            </a:r>
          </a:p>
          <a:p>
            <a:endParaRPr lang="en-US" dirty="0"/>
          </a:p>
          <a:p>
            <a:r>
              <a:rPr lang="en-US" dirty="0"/>
              <a:t>(Original scene 13)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Back developed Hashcash, a practical way to prove a computer had performed work. He intended it to discourage spam. A few years later, Hal would see an entirely different possibility in the same mechanism.</a:t>
            </a:r>
          </a:p>
          <a:p>
            <a:endParaRPr lang="en-US" dirty="0"/>
          </a:p>
          <a:p>
            <a:r>
              <a:rPr lang="en-US" dirty="0"/>
              <a:t>Source: Adam Back's Hashcash documentation and 1997 announcement.</a:t>
            </a:r>
          </a:p>
          <a:p>
            <a:endParaRPr lang="en-US" dirty="0"/>
          </a:p>
          <a:p>
            <a:r>
              <a:rPr lang="en-US" dirty="0"/>
              <a:t>(Original scene 14)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 nonce. Hash the message. Wrong result?</a:t>
            </a:r>
          </a:p>
          <a:p>
            <a:endParaRPr lang="en-US" dirty="0"/>
          </a:p>
          <a:p>
            <a:r>
              <a:rPr lang="en-US" dirty="0"/>
              <a:t>Source: Hashcash technical specification. Original Hashcash used SHA-1; Bitcoin later used double SHA-256.</a:t>
            </a:r>
          </a:p>
          <a:p>
            <a:endParaRPr lang="en-US" dirty="0"/>
          </a:p>
          <a:p>
            <a:r>
              <a:rPr lang="en-US" dirty="0"/>
              <a:t>(Original scene 15)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the nonce and try again.</a:t>
            </a:r>
          </a:p>
          <a:p>
            <a:endParaRPr lang="en-US" dirty="0"/>
          </a:p>
          <a:p>
            <a:r>
              <a:rPr lang="en-US" dirty="0"/>
              <a:t>Source: Hashcash technical specification. Original Hashcash used SHA-1; Bitcoin later used double SHA-256.</a:t>
            </a:r>
          </a:p>
          <a:p>
            <a:endParaRPr lang="en-US" dirty="0"/>
          </a:p>
          <a:p>
            <a:r>
              <a:rPr lang="en-US" dirty="0"/>
              <a:t>(Original scene 15)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Eventually, one hash meets a difficulty target. Finding it may take millions of attempts. Verifying it takes one. This asymmetry would become central to Bitcoin mining.</a:t>
            </a:r>
          </a:p>
          <a:p>
            <a:endParaRPr lang="en-US" dirty="0"/>
          </a:p>
          <a:p>
            <a:r>
              <a:rPr lang="en-US" dirty="0"/>
              <a:t>Source: Hashcash technical specification. Original Hashcash used SHA-1; Bitcoin later used double SHA-256.</a:t>
            </a:r>
          </a:p>
          <a:p>
            <a:endParaRPr lang="en-US" dirty="0"/>
          </a:p>
          <a:p>
            <a:r>
              <a:rPr lang="en-US" dirty="0"/>
              <a:t>(Original scene 15)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 Dai was an accomplished cryptographic programmer and the creator of Crypto++. In 1998 he proposed a radically different kind of money: pseudonymous users, cryptographic ownership, and shared accounting records. Unlike most of the people in this story, he has no verified public portrait.</a:t>
            </a:r>
          </a:p>
          <a:p>
            <a:endParaRPr lang="en-US" dirty="0"/>
          </a:p>
          <a:p>
            <a:r>
              <a:rPr lang="en-US" dirty="0"/>
              <a:t>Source: Wei Dai's site and b-money proposal; image is illustrative, not photographic identification.</a:t>
            </a:r>
          </a:p>
          <a:p>
            <a:endParaRPr lang="en-US" dirty="0"/>
          </a:p>
          <a:p>
            <a:r>
              <a:rPr lang="en-US" dirty="0"/>
              <a:t>(Original scene 16)</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Wei Dai's b-money, participants would maintain records of ownership and transfer value with digital signatures. The idea was remarkably close to Bitcoin's ambition.</a:t>
            </a:r>
          </a:p>
          <a:p>
            <a:endParaRPr lang="en-US" dirty="0"/>
          </a:p>
          <a:p>
            <a:r>
              <a:rPr lang="en-US" dirty="0"/>
              <a:t>Source: Wei Dai, *b-money* (1998).</a:t>
            </a:r>
          </a:p>
          <a:p>
            <a:endParaRPr lang="en-US" dirty="0"/>
          </a:p>
          <a:p>
            <a:r>
              <a:rPr lang="en-US" dirty="0"/>
              <a:t>(Original scene 17)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 proposal left practical problems of coordination and reliable agreement unresolved.</a:t>
            </a:r>
          </a:p>
          <a:p>
            <a:endParaRPr lang="en-US" dirty="0"/>
          </a:p>
          <a:p>
            <a:r>
              <a:rPr lang="en-US" dirty="0"/>
              <a:t>Source: Wei Dai, *b-money* (1998).</a:t>
            </a:r>
          </a:p>
          <a:p>
            <a:endParaRPr lang="en-US" dirty="0"/>
          </a:p>
          <a:p>
            <a:r>
              <a:rPr lang="en-US" dirty="0"/>
              <a:t>(Original scene 17)</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Szabo had been thinking about digital property, contracts, and scarcity for years. His Bit Gold ideas asked whether computational work could produce something valuable without a central issuer. Hal Finney knew Szabo personally and corresponded with him extensively.</a:t>
            </a:r>
          </a:p>
          <a:p>
            <a:endParaRPr lang="en-US" dirty="0"/>
          </a:p>
          <a:p>
            <a:r>
              <a:rPr lang="en-US" dirty="0"/>
              <a:t>Source: Szabo's writings and Hal's *Bitcoin and Me* (2013).</a:t>
            </a:r>
          </a:p>
          <a:p>
            <a:endParaRPr lang="en-US" dirty="0"/>
          </a:p>
          <a:p>
            <a:r>
              <a:rPr lang="en-US" dirty="0"/>
              <a:t>(Original scene 18)</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 Sassaman worked in the privacy and cryptographic-communications world, including technologies for anonymous messaging. He knew Hal Finney. Len's interest in anonymity would eventually become an intriguing part of the Satoshi mystery.</a:t>
            </a:r>
          </a:p>
          <a:p>
            <a:endParaRPr lang="en-US" dirty="0"/>
          </a:p>
          <a:p>
            <a:r>
              <a:rPr lang="en-US" dirty="0"/>
              <a:t>Source: Len biographies and *Finding Satoshi* interviews; precise employment details should be sourced.</a:t>
            </a:r>
          </a:p>
          <a:p>
            <a:endParaRPr lang="en-US" dirty="0"/>
          </a:p>
          <a:p>
            <a:r>
              <a:rPr lang="en-US" dirty="0"/>
              <a:t>(Original scene 19)</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met and corresponded extensively with Wei Dai and Nick Szabo. He exchanged technical ideas with Adam Back. His professional circle included Phil Zimmermann and Len Sassaman.</a:t>
            </a:r>
          </a:p>
          <a:p>
            <a:endParaRPr lang="en-US" dirty="0"/>
          </a:p>
          <a:p>
            <a:r>
              <a:rPr lang="en-US" dirty="0"/>
              <a:t>Source: Hal's *Bitcoin and Me*; PGP history; RPOW correspondence; *Finding Satoshi* recollections.</a:t>
            </a:r>
          </a:p>
          <a:p>
            <a:endParaRPr lang="en-US" dirty="0"/>
          </a:p>
          <a:p>
            <a:r>
              <a:rPr lang="en-US" dirty="0"/>
              <a:t>(Original scene 20)</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not isolated inventors. They worked in an overlapping world of ideas and personal relationships.</a:t>
            </a:r>
          </a:p>
          <a:p>
            <a:endParaRPr lang="en-US" dirty="0"/>
          </a:p>
          <a:p>
            <a:r>
              <a:rPr lang="en-US" dirty="0"/>
              <a:t>Source: Hal's *Bitcoin and Me*; PGP history; RPOW correspondence; *Finding Satoshi* recollections.</a:t>
            </a:r>
          </a:p>
          <a:p>
            <a:endParaRPr lang="en-US" dirty="0"/>
          </a:p>
          <a:p>
            <a:r>
              <a:rPr lang="en-US" dirty="0"/>
              <a:t>(Original scene 20)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early 2000s, the ingredients were scattered among a small community. Digital cash. Proof of work. Cryptographic ownership. Distributed records. But a practical currency without a trusted issuer had still not appeared.</a:t>
            </a:r>
          </a:p>
          <a:p>
            <a:endParaRPr lang="en-US" dirty="0"/>
          </a:p>
          <a:p>
            <a:r>
              <a:rPr lang="en-US" dirty="0"/>
              <a:t>Source: Synthesis; not a claim of a secret development team.</a:t>
            </a:r>
          </a:p>
          <a:p>
            <a:endParaRPr lang="en-US" dirty="0"/>
          </a:p>
          <a:p>
            <a:r>
              <a:rPr lang="en-US" dirty="0"/>
              <a:t>(Original scene 21)</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would put the pieces together?</a:t>
            </a:r>
          </a:p>
          <a:p>
            <a:endParaRPr lang="en-US" dirty="0"/>
          </a:p>
          <a:p>
            <a:r>
              <a:rPr lang="en-US" dirty="0"/>
              <a:t>Source: Synthesis; not a claim of a secret development team.</a:t>
            </a:r>
          </a:p>
          <a:p>
            <a:endParaRPr lang="en-US" dirty="0"/>
          </a:p>
          <a:p>
            <a:r>
              <a:rPr lang="en-US" dirty="0"/>
              <a:t>(Original scene 21)</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Finney released Reusable Proofs of Work—RPOW. Proof-of-work tokens could be exchanged and transferred repeatedly. Hal had built functioning digital-money software, not merely published a proposal.</a:t>
            </a:r>
          </a:p>
          <a:p>
            <a:endParaRPr lang="en-US" dirty="0"/>
          </a:p>
          <a:p>
            <a:r>
              <a:rPr lang="en-US" dirty="0"/>
              <a:t>Source: Hal's August 2004 RPOW announcement. GitHub upload dates are later archival dates.</a:t>
            </a:r>
          </a:p>
          <a:p>
            <a:endParaRPr lang="en-US" dirty="0"/>
          </a:p>
          <a:p>
            <a:r>
              <a:rPr lang="en-US" dirty="0"/>
              <a:t>(Original scene 22)</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invited cryptographers to test his new Hashcash-based server. He released software and documentation, exposing the system to criticism and technical review. RPOW was an experiment he wanted people to challenge.</a:t>
            </a:r>
          </a:p>
          <a:p>
            <a:endParaRPr lang="en-US" dirty="0"/>
          </a:p>
          <a:p>
            <a:r>
              <a:rPr lang="en-US" dirty="0"/>
              <a:t>Source: MetzDowd Cryptography mailing-list archive, August 2004.</a:t>
            </a:r>
          </a:p>
          <a:p>
            <a:endParaRPr lang="en-US" dirty="0"/>
          </a:p>
          <a:p>
            <a:r>
              <a:rPr lang="en-US" dirty="0"/>
              <a:t>(Original scene 23)</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Ray Dillinger questioned what transferable proof-of-work tokens were actually good for. If work could be transferred and reused, what gave the tokens practical value? It was a difficult question for anyone attempting to invent new money.</a:t>
            </a:r>
          </a:p>
          <a:p>
            <a:endParaRPr lang="en-US" dirty="0"/>
          </a:p>
          <a:p>
            <a:r>
              <a:rPr lang="en-US" dirty="0"/>
              <a:t>Source: Original mailing-list correspondence.</a:t>
            </a:r>
          </a:p>
          <a:p>
            <a:endParaRPr lang="en-US" dirty="0"/>
          </a:p>
          <a:p>
            <a:r>
              <a:rPr lang="en-US" dirty="0"/>
              <a:t>(Original scene 24)</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connected RPOW directly to Nick Szabo's Bit Gold. He imagined computationally scarce tokens being bought and sold, if people found a compelling use for them. Four years before Bitcoin, he was wrestling with the economics of digital scarcity.</a:t>
            </a:r>
          </a:p>
          <a:p>
            <a:endParaRPr lang="en-US" dirty="0"/>
          </a:p>
          <a:p>
            <a:r>
              <a:rPr lang="en-US" dirty="0"/>
              <a:t>Source: Original mailing-list response by Hal.</a:t>
            </a:r>
          </a:p>
          <a:p>
            <a:endParaRPr lang="en-US" dirty="0"/>
          </a:p>
          <a:p>
            <a:r>
              <a:rPr lang="en-US" dirty="0"/>
              <a:t>(Original scene 25)</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Adam Back recognized the connection between RPOW and Chaumian electronic cash. He understood how Hal was using Hashcash and trusted hardware to prevent unauthorized token creation. Two future Bitcoin pioneers were openly debating transferable proof-of-work money.</a:t>
            </a:r>
          </a:p>
          <a:p>
            <a:endParaRPr lang="en-US" dirty="0"/>
          </a:p>
          <a:p>
            <a:r>
              <a:rPr lang="en-US" dirty="0"/>
              <a:t>Source: MetzDowd August 2004 thread.</a:t>
            </a:r>
          </a:p>
          <a:p>
            <a:endParaRPr lang="en-US" dirty="0"/>
          </a:p>
          <a:p>
            <a:r>
              <a:rPr lang="en-US" dirty="0"/>
              <a:t>(Original scene 26)</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RPOW's protection against double spending rested on a special IBM secure coprocessor. Hal tried to make even the server operator unable to cheat. But users still depended on the integrity and continued operation of trusted hardware.</a:t>
            </a:r>
          </a:p>
          <a:p>
            <a:endParaRPr lang="en-US" dirty="0"/>
          </a:p>
          <a:p>
            <a:r>
              <a:rPr lang="en-US" dirty="0"/>
              <a:t>Source: RPOW technical documentation.</a:t>
            </a:r>
          </a:p>
          <a:p>
            <a:endParaRPr lang="en-US" dirty="0"/>
          </a:p>
          <a:p>
            <a:r>
              <a:rPr lang="en-US" dirty="0"/>
              <a:t>(Original scene 27)</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RPOW server permanently stopped operating, some tokens associated with it could lose their usefulness. For a system hoping to become money, that was a serious weakness. A single machine's fate should not determine whether somebody's savings survive.</a:t>
            </a:r>
          </a:p>
          <a:p>
            <a:endParaRPr lang="en-US" dirty="0"/>
          </a:p>
          <a:p>
            <a:r>
              <a:rPr lang="en-US" dirty="0"/>
              <a:t>Source: Hal, *World of RPOW*.</a:t>
            </a:r>
          </a:p>
          <a:p>
            <a:endParaRPr lang="en-US" dirty="0"/>
          </a:p>
          <a:p>
            <a:r>
              <a:rPr lang="en-US" dirty="0"/>
              <a:t>(Original scene 28)</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considered having multiple RPOW servers maintain a shared record of spent tokens. That required keeping their histories consistent while preventing double spending.</a:t>
            </a:r>
          </a:p>
          <a:p>
            <a:endParaRPr lang="en-US" dirty="0"/>
          </a:p>
          <a:p>
            <a:r>
              <a:rPr lang="en-US" dirty="0"/>
              <a:t>Source: Hal, *World of RPOW*. The rejected architecture was not Bitcoin's later consensus system.</a:t>
            </a:r>
          </a:p>
          <a:p>
            <a:endParaRPr lang="en-US" dirty="0"/>
          </a:p>
          <a:p>
            <a:r>
              <a:rPr lang="en-US" dirty="0"/>
              <a:t>(Original scene 29)</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judged the proposed design too complex for RPOW and rejected it.</a:t>
            </a:r>
          </a:p>
          <a:p>
            <a:endParaRPr lang="en-US" dirty="0"/>
          </a:p>
          <a:p>
            <a:r>
              <a:rPr lang="en-US" dirty="0"/>
              <a:t>Source: Hal, *World of RPOW*. The rejected architecture was not Bitcoin's later consensus system.</a:t>
            </a:r>
          </a:p>
          <a:p>
            <a:endParaRPr lang="en-US" dirty="0"/>
          </a:p>
          <a:p>
            <a:r>
              <a:rPr lang="en-US" dirty="0"/>
              <a:t>(Original scene 29)</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can computers that don't trust one another agree about who owns the money? Hal had confronted the problem. He had not published a permissionless consensus solution. This was the missing step between working digital tokens and decentralized money.</a:t>
            </a:r>
          </a:p>
          <a:p>
            <a:endParaRPr lang="en-US" dirty="0"/>
          </a:p>
          <a:p>
            <a:r>
              <a:rPr lang="en-US" dirty="0"/>
              <a:t>Source: Historical synthesis; avoid asserting Hal personally solved this later.</a:t>
            </a:r>
          </a:p>
          <a:p>
            <a:endParaRPr lang="en-US" dirty="0"/>
          </a:p>
          <a:p>
            <a:r>
              <a:rPr lang="en-US" dirty="0"/>
              <a:t>(Original scene 30)</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experimented with linking RPOW to BitTorrent. Uploading and sharing files could earn tokens; spending tokens could purchase priority. He was exploring economic incentives inside peer-to-peer software years before Bitcoin's launch.</a:t>
            </a:r>
          </a:p>
          <a:p>
            <a:endParaRPr lang="en-US" dirty="0"/>
          </a:p>
          <a:p>
            <a:r>
              <a:rPr lang="en-US" dirty="0"/>
              <a:t>Source: Hal's February 2005 announcement.</a:t>
            </a:r>
          </a:p>
          <a:p>
            <a:endParaRPr lang="en-US" dirty="0"/>
          </a:p>
          <a:p>
            <a:r>
              <a:rPr lang="en-US" dirty="0"/>
              <a:t>(Original scene 31)</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added Tor support to RPOW, helping users connect with greater network privacy. His experimental money now incorporated proof of work, transferable tokens, peer-to-peer applications, and anonymous communications.</a:t>
            </a:r>
          </a:p>
          <a:p>
            <a:endParaRPr lang="en-US" dirty="0"/>
          </a:p>
          <a:p>
            <a:r>
              <a:rPr lang="en-US" dirty="0"/>
              <a:t>Source: RPOW release log February 27, 2005.</a:t>
            </a:r>
          </a:p>
          <a:p>
            <a:endParaRPr lang="en-US" dirty="0"/>
          </a:p>
          <a:p>
            <a:r>
              <a:rPr lang="en-US" dirty="0"/>
              <a:t>(Original scene 32)</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verified public RPOW release appeared in February 2005. Hal did not disappear: he continued cryptographic work. But the surviving public RPOW record no longer tells us whether he was pursuing the deeper monetary problem.</a:t>
            </a:r>
          </a:p>
          <a:p>
            <a:endParaRPr lang="en-US" dirty="0"/>
          </a:p>
          <a:p>
            <a:r>
              <a:rPr lang="en-US" dirty="0"/>
              <a:t>Source: RPOW news archive; gaps in public records are not proof of private Bitcoin development.</a:t>
            </a:r>
          </a:p>
          <a:p>
            <a:endParaRPr lang="en-US" dirty="0"/>
          </a:p>
          <a:p>
            <a:r>
              <a:rPr lang="en-US" dirty="0"/>
              <a:t>(Original scene 33)</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 Dai continued Crypto++ development. Nick Szabo described Bit Gold in detail. Hal Finney worked on cryptographic engineering and trusted computing. We can document much of their public work—but not the invention of Bitcoin's consensus rule.</a:t>
            </a:r>
          </a:p>
          <a:p>
            <a:endParaRPr lang="en-US" dirty="0"/>
          </a:p>
          <a:p>
            <a:r>
              <a:rPr lang="en-US" dirty="0"/>
              <a:t>Source: Crypto++ release history; Szabo 2005 essay; OpenPGP records. Missing public RPOW releases do NOT mean that Hal stopped working: RFC 4880 and trusted-computing correspondence document other work.</a:t>
            </a:r>
          </a:p>
          <a:p>
            <a:endParaRPr lang="en-US" dirty="0"/>
          </a:p>
          <a:p>
            <a:r>
              <a:rPr lang="en-US" dirty="0"/>
              <a:t>(Original scene 34)</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Szabo's detailed Bit Gold description brought proof of work, timestamping, and ownership records together. Yet practical consensus still required assumptions and engineering that no public Bit Gold implementation had resolved.</a:t>
            </a:r>
          </a:p>
          <a:p>
            <a:endParaRPr lang="en-US" dirty="0"/>
          </a:p>
          <a:p>
            <a:r>
              <a:rPr lang="en-US" dirty="0"/>
              <a:t>Source: Szabo, *Bit Gold*, December 2005.</a:t>
            </a:r>
          </a:p>
          <a:p>
            <a:endParaRPr lang="en-US" dirty="0"/>
          </a:p>
          <a:p>
            <a:r>
              <a:rPr lang="en-US" dirty="0"/>
              <a:t>(Original scene 35)</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Satoshi would later say he had spent roughly a year and a half coding Bitcoin by November 2008. That places the project around the first half of 2007. The code began long before the world saw the whitepaper.</a:t>
            </a:r>
          </a:p>
          <a:p>
            <a:endParaRPr lang="en-US" dirty="0"/>
          </a:p>
          <a:p>
            <a:r>
              <a:rPr lang="en-US" dirty="0"/>
              <a:t>Source: Satoshi correspondence, November 2008. Approximate start date, not a precise timestamp.</a:t>
            </a:r>
          </a:p>
          <a:p>
            <a:endParaRPr lang="en-US" dirty="0"/>
          </a:p>
          <a:p>
            <a:r>
              <a:rPr lang="en-US" dirty="0"/>
              <a:t>(Original scene 36)</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coauthored RFC 4880, the OpenPGP Message Format standard. He was still a serious working cryptographic engineer. The gap in public RPOW updates was not a gap in his entire life or career.</a:t>
            </a:r>
          </a:p>
          <a:p>
            <a:endParaRPr lang="en-US" dirty="0"/>
          </a:p>
          <a:p>
            <a:r>
              <a:rPr lang="en-US" dirty="0"/>
              <a:t>Source: RFC Editor, November 2007.</a:t>
            </a:r>
          </a:p>
          <a:p>
            <a:endParaRPr lang="en-US" dirty="0"/>
          </a:p>
          <a:p>
            <a:r>
              <a:rPr lang="en-US" dirty="0"/>
              <a:t>(Original scene 37)</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Bit Gold discussion, Nick Szabo invited someone to help code an experimental implementation.</a:t>
            </a:r>
          </a:p>
          <a:p>
            <a:endParaRPr lang="en-US" dirty="0"/>
          </a:p>
          <a:p>
            <a:r>
              <a:rPr lang="en-US" dirty="0"/>
              <a:t>Source: Szabo blog comment, date reconstruction requires careful verification.</a:t>
            </a:r>
          </a:p>
          <a:p>
            <a:endParaRPr lang="en-US" dirty="0"/>
          </a:p>
          <a:p>
            <a:r>
              <a:rPr lang="en-US" dirty="0"/>
              <a:t>(Original scene 38)</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knew Hal Finney, who had already built RPOW. There is no verified evidence Hal answered that invitation.</a:t>
            </a:r>
          </a:p>
          <a:p>
            <a:endParaRPr lang="en-US" dirty="0"/>
          </a:p>
          <a:p>
            <a:r>
              <a:rPr lang="en-US" dirty="0"/>
              <a:t>Source: Szabo blog comment, date reconstruction requires careful verification.</a:t>
            </a:r>
          </a:p>
          <a:p>
            <a:endParaRPr lang="en-US" dirty="0"/>
          </a:p>
          <a:p>
            <a:r>
              <a:rPr lang="en-US" dirty="0"/>
              <a:t>(Original scene 38)</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 Sigman identified a reported gap in recorded Crypto++ commits, beginning February 2, 2008.</a:t>
            </a:r>
          </a:p>
          <a:p>
            <a:endParaRPr lang="en-US" dirty="0"/>
          </a:p>
          <a:p>
            <a:r>
              <a:rPr lang="en-US" dirty="0"/>
              <a:t>Source: Ben Sigman's 2026 thread; avoid equating release gaps with commits. The reported February–November Crypto++ commit gap is attributed to Ben Sigman and has not been independently reconstructed from original version-control metadata.</a:t>
            </a:r>
          </a:p>
          <a:p>
            <a:endParaRPr lang="en-US" dirty="0"/>
          </a:p>
          <a:p>
            <a:r>
              <a:rPr lang="en-US" dirty="0"/>
              <a:t>(Original scene 39)</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reported gap runs to November 21, 2008 — more than nine months.</a:t>
            </a:r>
          </a:p>
          <a:p>
            <a:endParaRPr lang="en-US" dirty="0"/>
          </a:p>
          <a:p>
            <a:r>
              <a:rPr lang="en-US" dirty="0"/>
              <a:t>Source: Ben Sigman's 2026 thread; avoid equating release gaps with commits. The reported February–November Crypto++ commit gap is attributed to Ben Sigman and has not been independently reconstructed from original version-control metadata.</a:t>
            </a:r>
          </a:p>
          <a:p>
            <a:endParaRPr lang="en-US" dirty="0"/>
          </a:p>
          <a:p>
            <a:r>
              <a:rPr lang="en-US" dirty="0"/>
              <a:t>(Original scene 39)</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overlaps Bitcoin development. But a version-control gap does not tell us what Wei Dai was doing—and the historical log needs independent audit.</a:t>
            </a:r>
          </a:p>
          <a:p>
            <a:endParaRPr lang="en-US" dirty="0"/>
          </a:p>
          <a:p>
            <a:r>
              <a:rPr lang="en-US" dirty="0"/>
              <a:t>Source: Ben Sigman's 2026 thread; avoid equating release gaps with commits. The reported February–November Crypto++ commit gap is attributed to Ben Sigman and has not been independently reconstructed from original version-control metadata.</a:t>
            </a:r>
          </a:p>
          <a:p>
            <a:endParaRPr lang="en-US" dirty="0"/>
          </a:p>
          <a:p>
            <a:r>
              <a:rPr lang="en-US" dirty="0"/>
              <a:t>(Original scene 39)</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Szabo announced that his blog would enter a period of reruns. On that same date, Satoshi Nakamoto contacted Adam Back. The coincidence is striking. It is not evidence by itself that they were coordinating.</a:t>
            </a:r>
          </a:p>
          <a:p>
            <a:endParaRPr lang="en-US" dirty="0"/>
          </a:p>
          <a:p>
            <a:r>
              <a:rPr lang="en-US" dirty="0"/>
              <a:t>Source: Unenumerated archive; Szabo continued posting afterward.</a:t>
            </a:r>
          </a:p>
          <a:p>
            <a:endParaRPr lang="en-US" dirty="0"/>
          </a:p>
          <a:p>
            <a:r>
              <a:rPr lang="en-US" dirty="0"/>
              <a:t>(Original scene 40)</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Satoshi sent Adam Back a draft paper about electronic cash.</a:t>
            </a:r>
          </a:p>
          <a:p>
            <a:endParaRPr lang="en-US" dirty="0"/>
          </a:p>
          <a:p>
            <a:r>
              <a:rPr lang="en-US" dirty="0"/>
              <a:t>Source: Preserved 2008 correspondence.</a:t>
            </a:r>
          </a:p>
          <a:p>
            <a:endParaRPr lang="en-US" dirty="0"/>
          </a:p>
          <a:p>
            <a:r>
              <a:rPr lang="en-US" dirty="0"/>
              <a:t>(Original scene 41)</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recognized a link to Hashcash and directed Satoshi toward Wei Dai's b-money. The first surviving clues to the anonymous creator now appear in writing.</a:t>
            </a:r>
          </a:p>
          <a:p>
            <a:endParaRPr lang="en-US" dirty="0"/>
          </a:p>
          <a:p>
            <a:r>
              <a:rPr lang="en-US" dirty="0"/>
              <a:t>Source: Preserved 2008 correspondence.</a:t>
            </a:r>
          </a:p>
          <a:p>
            <a:endParaRPr lang="en-US" dirty="0"/>
          </a:p>
          <a:p>
            <a:r>
              <a:rPr lang="en-US" dirty="0"/>
              <a:t>(Original scene 41)</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Satoshi told Back that he had not been aware of the b-money page.</a:t>
            </a:r>
          </a:p>
          <a:p>
            <a:endParaRPr lang="en-US" dirty="0"/>
          </a:p>
          <a:p>
            <a:r>
              <a:rPr lang="en-US" dirty="0"/>
              <a:t>Source: Original Satoshi–Back correspondence.</a:t>
            </a:r>
          </a:p>
          <a:p>
            <a:endParaRPr lang="en-US" dirty="0"/>
          </a:p>
          <a:p>
            <a:r>
              <a:rPr lang="en-US" dirty="0"/>
              <a:t>(Original scene 42)</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Finney, by contrast, had known Wei Dai for years. Was Satoshi genuinely independent, carefully choosing his words, or concealing a relationship? The email alone cannot tell us.</a:t>
            </a:r>
          </a:p>
          <a:p>
            <a:endParaRPr lang="en-US" dirty="0"/>
          </a:p>
          <a:p>
            <a:r>
              <a:rPr lang="en-US" dirty="0"/>
              <a:t>Source: Original Satoshi–Back correspondence.</a:t>
            </a:r>
          </a:p>
          <a:p>
            <a:endParaRPr lang="en-US" dirty="0"/>
          </a:p>
          <a:p>
            <a:r>
              <a:rPr lang="en-US" dirty="0"/>
              <a:t>(Original scene 42)</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unknown author published *Bitcoin: A Peer-to-Peer Electronic Cash System*. The paper combined familiar inventions into something new: a practical system for agreeing on a monetary history without a trusted issuer.</a:t>
            </a:r>
          </a:p>
          <a:p>
            <a:endParaRPr lang="en-US" dirty="0"/>
          </a:p>
          <a:p>
            <a:r>
              <a:rPr lang="en-US" dirty="0"/>
              <a:t>Source: Satoshi Nakamoto (2008).</a:t>
            </a:r>
          </a:p>
          <a:p>
            <a:endParaRPr lang="en-US" dirty="0"/>
          </a:p>
          <a:p>
            <a:r>
              <a:rPr lang="en-US" dirty="0"/>
              <a:t>(Original scene 43)</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whitepaper cited Wei Dai, Adam Back, Haber and Stornetta, Merkle, and William Feller. Satoshi's citations reveal the intellectual tradition from which Bitcoin emerged. But two especially close predecessors are absent from the bibliography.</a:t>
            </a:r>
          </a:p>
          <a:p>
            <a:endParaRPr lang="en-US" dirty="0"/>
          </a:p>
          <a:p>
            <a:r>
              <a:rPr lang="en-US" dirty="0"/>
              <a:t>Source: Bitcoin whitepaper bibliography.</a:t>
            </a:r>
          </a:p>
          <a:p>
            <a:endParaRPr lang="en-US" dirty="0"/>
          </a:p>
          <a:p>
            <a:r>
              <a:rPr lang="en-US" dirty="0"/>
              <a:t>(Original scene 44)</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especially close predecessors are absent from the bibliography.</a:t>
            </a:r>
          </a:p>
          <a:p>
            <a:endParaRPr lang="en-US" dirty="0"/>
          </a:p>
          <a:p>
            <a:r>
              <a:rPr lang="en-US" dirty="0"/>
              <a:t>Source: Whitepaper references; do not claim suppression as fact. Absence of Szabo and Finney from the bibliography does not establish deliberate concealment.</a:t>
            </a:r>
          </a:p>
          <a:p>
            <a:endParaRPr lang="en-US" dirty="0"/>
          </a:p>
          <a:p>
            <a:r>
              <a:rPr lang="en-US" dirty="0"/>
              <a:t>(Original scene 45)</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NICK SZABO. HAL FINNEY. Bit Gold and RPOW were important precursors to Bitcoin, but neither was cited in the whitepaper. Was the omission editorial judgment, an oversight, or deliberate distancing? We have no evidence establishing the motive.</a:t>
            </a:r>
          </a:p>
          <a:p>
            <a:endParaRPr lang="en-US" dirty="0"/>
          </a:p>
          <a:p>
            <a:r>
              <a:rPr lang="en-US" dirty="0"/>
              <a:t>Source: Whitepaper references; do not claim suppression as fact. Absence of Szabo and Finney from the bibliography does not establish deliberate concealment.</a:t>
            </a:r>
          </a:p>
          <a:p>
            <a:endParaRPr lang="en-US" dirty="0"/>
          </a:p>
          <a:p>
            <a:r>
              <a:rPr lang="en-US" dirty="0"/>
              <a:t>(Original scene 45)</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surviving November source preview shows that Bitcoin's code existed before launch. Historical comparisons report changes in monetary parameters before January 2009. The software was being refined—not merely packaged. Whoever worked on it understood both systems engineering and monetary design.</a:t>
            </a:r>
          </a:p>
          <a:p>
            <a:endParaRPr lang="en-US" dirty="0"/>
          </a:p>
          <a:p>
            <a:r>
              <a:rPr lang="en-US" dirty="0"/>
              <a:t>Source: Original November source snapshot; exact parameter comparisons must be validated from preserved files.</a:t>
            </a:r>
          </a:p>
          <a:p>
            <a:endParaRPr lang="en-US" dirty="0"/>
          </a:p>
          <a:p>
            <a:r>
              <a:rPr lang="en-US" dirty="0"/>
              <a:t>(Original scene 46)</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Bitcoin's earliest software incorporated SHA-256 code descended from Wei Dai's Crypto++ library. That connection is explicit in the source. It proves code reuse—not that Wei secretly programmed Bitcoin. But it brings his work directly inside the original implementation.</a:t>
            </a:r>
          </a:p>
          <a:p>
            <a:endParaRPr lang="en-US" dirty="0"/>
          </a:p>
          <a:p>
            <a:r>
              <a:rPr lang="en-US" dirty="0"/>
              <a:t>Source: Crypto++ 5.5.2 and Bitcoin v0.1 historical source.</a:t>
            </a:r>
          </a:p>
          <a:p>
            <a:endParaRPr lang="en-US" dirty="0"/>
          </a:p>
          <a:p>
            <a:r>
              <a:rPr lang="en-US" dirty="0"/>
              <a:t>(Original scene 47)</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Finney became one of Bitcoin's first users. He ran the software, reported crashes, and helped debug its early versions.</a:t>
            </a:r>
          </a:p>
          <a:p>
            <a:endParaRPr lang="en-US" dirty="0"/>
          </a:p>
          <a:p>
            <a:r>
              <a:rPr lang="en-US" dirty="0"/>
              <a:t>Source: Hal's contemporaneous post and Bitcoin transaction record.</a:t>
            </a:r>
          </a:p>
          <a:p>
            <a:endParaRPr lang="en-US" dirty="0"/>
          </a:p>
          <a:p>
            <a:r>
              <a:rPr lang="en-US" dirty="0"/>
              <a:t>(Original scene 48)</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January 12, Satoshi sent him 10 bitcoin—the first widely recognized person-to-person Bitcoin transaction.</a:t>
            </a:r>
          </a:p>
          <a:p>
            <a:endParaRPr lang="en-US" dirty="0"/>
          </a:p>
          <a:p>
            <a:r>
              <a:rPr lang="en-US" dirty="0"/>
              <a:t>Source: Hal's contemporaneous post and Bitcoin transaction record.</a:t>
            </a:r>
          </a:p>
          <a:p>
            <a:endParaRPr lang="en-US" dirty="0"/>
          </a:p>
          <a:p>
            <a:r>
              <a:rPr lang="en-US" dirty="0"/>
              <a:t>(Original scene 48)</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and Satoshi exchanged detailed debugging emails. Hal behaved like an outside tester; Satoshi supplied fixes and showed deep knowledge of the C++ code. A shared pseudonym could accommodate the exchange, but that explanation requires evidence of coordination that has not been found.</a:t>
            </a:r>
          </a:p>
          <a:p>
            <a:endParaRPr lang="en-US" dirty="0"/>
          </a:p>
          <a:p>
            <a:r>
              <a:rPr lang="en-US" dirty="0"/>
              <a:t>Source: Hal–Satoshi email archive.</a:t>
            </a:r>
          </a:p>
          <a:p>
            <a:endParaRPr lang="en-US" dirty="0"/>
          </a:p>
          <a:p>
            <a:r>
              <a:rPr lang="en-US" dirty="0"/>
              <a:t>(Original scene 49)</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ran a documented ten-mile race in Santa Barbara.</a:t>
            </a:r>
          </a:p>
          <a:p>
            <a:endParaRPr lang="en-US" dirty="0"/>
          </a:p>
          <a:p>
            <a:r>
              <a:rPr lang="en-US" dirty="0"/>
              <a:t>Source: Race records and Jameson Lopp's analysis; distinguish transaction broadcast timing from confirmation timing.</a:t>
            </a:r>
          </a:p>
          <a:p>
            <a:endParaRPr lang="en-US" dirty="0"/>
          </a:p>
          <a:p>
            <a:r>
              <a:rPr lang="en-US" dirty="0"/>
              <a:t>(Original scene 50)</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Meanwhile, Satoshi appeared to be active. It is a serious problem for any theory that Hal operated the identity entirely alone. The simplest explanation remains that two different people were involved.</a:t>
            </a:r>
          </a:p>
          <a:p>
            <a:endParaRPr lang="en-US" dirty="0"/>
          </a:p>
          <a:p>
            <a:r>
              <a:rPr lang="en-US" dirty="0"/>
              <a:t>Source: Race records and Jameson Lopp's analysis; distinguish transaction broadcast timing from confirmation timing.</a:t>
            </a:r>
          </a:p>
          <a:p>
            <a:endParaRPr lang="en-US" dirty="0"/>
          </a:p>
          <a:p>
            <a:r>
              <a:rPr lang="en-US" dirty="0"/>
              <a:t>(Original scene 50)</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if 'Satoshi Nakamoto' named a project, not a person?</a:t>
            </a:r>
          </a:p>
          <a:p>
            <a:endParaRPr lang="en-US" dirty="0"/>
          </a:p>
          <a:p>
            <a:r>
              <a:rPr lang="en-US" dirty="0"/>
              <a:t>Source: Hypothesis, not established fact.</a:t>
            </a:r>
          </a:p>
          <a:p>
            <a:endParaRPr lang="en-US" dirty="0"/>
          </a:p>
          <a:p>
            <a:r>
              <a:rPr lang="en-US" dirty="0"/>
              <a:t>(Original scene 51)</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engineer might have designed software, while another handled correspondence and releases. It is an intriguing explanation for apparent contradictions—but possibility alone does not demonstrate that such a partnership existed.</a:t>
            </a:r>
          </a:p>
          <a:p>
            <a:endParaRPr lang="en-US" dirty="0"/>
          </a:p>
          <a:p>
            <a:r>
              <a:rPr lang="en-US" dirty="0"/>
              <a:t>Source: Hypothesis, not established fact.</a:t>
            </a:r>
          </a:p>
          <a:p>
            <a:endParaRPr lang="en-US" dirty="0"/>
          </a:p>
          <a:p>
            <a:r>
              <a:rPr lang="en-US" dirty="0"/>
              <a:t>(Original scene 51)</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 Sassaman knew Hal and understood the world of pseudonymous cryptography. Bram Cohen remembered Len encouraging software authors to use pseudonyms.</a:t>
            </a:r>
          </a:p>
          <a:p>
            <a:endParaRPr lang="en-US" dirty="0"/>
          </a:p>
          <a:p>
            <a:r>
              <a:rPr lang="en-US" dirty="0"/>
              <a:t>Source: Bram's attributed documentary recollections and Meredith Patterson interview.</a:t>
            </a:r>
          </a:p>
          <a:p>
            <a:endParaRPr lang="en-US" dirty="0"/>
          </a:p>
          <a:p>
            <a:r>
              <a:rPr lang="en-US" dirty="0"/>
              <a:t>(Original scene 52)</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Satoshi proposes that Len may have assisted Hal. Neither friendship nor anonymity expertise proves that he did.</a:t>
            </a:r>
          </a:p>
          <a:p>
            <a:endParaRPr lang="en-US" dirty="0"/>
          </a:p>
          <a:p>
            <a:r>
              <a:rPr lang="en-US" dirty="0"/>
              <a:t>Source: Bram's attributed documentary recollections and Meredith Patterson interview.</a:t>
            </a:r>
          </a:p>
          <a:p>
            <a:endParaRPr lang="en-US" dirty="0"/>
          </a:p>
          <a:p>
            <a:r>
              <a:rPr lang="en-US" dirty="0"/>
              <a:t>(Original scene 52)</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this presentation explores: Hal Finney, working with one or more of Len Sassaman, Nick Szabo and Wei Dai.</a:t>
            </a:r>
          </a:p>
          <a:p>
            <a:endParaRPr lang="en-US" dirty="0"/>
          </a:p>
          <a:p>
            <a:r>
              <a:rPr lang="en-US" dirty="0"/>
              <a:t>Hypothesis, not established fact. Each connection rests on documented relationships and circumstantial timing, not on evidence of coordination.</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denied being Satoshi. His emails read like correspondence with another developer. Len reportedly criticized Bitcoin. Wei's commit gap has innocent explanations.</a:t>
            </a:r>
          </a:p>
          <a:p>
            <a:endParaRPr lang="en-US" dirty="0"/>
          </a:p>
          <a:p>
            <a:r>
              <a:rPr lang="en-US" dirty="0"/>
              <a:t>Source: Hal's 2013 account and early emails; documentary and independent criticism.</a:t>
            </a:r>
          </a:p>
          <a:p>
            <a:endParaRPr lang="en-US" dirty="0"/>
          </a:p>
          <a:p>
            <a:r>
              <a:rPr lang="en-US" dirty="0"/>
              <a:t>(Original scene 53)</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multi-person theory is possible, but it must compete with a simpler possibility: Satoshi was someone else.</a:t>
            </a:r>
          </a:p>
          <a:p>
            <a:endParaRPr lang="en-US" dirty="0"/>
          </a:p>
          <a:p>
            <a:r>
              <a:rPr lang="en-US" dirty="0"/>
              <a:t>Source: Hal's 2013 account and early emails; documentary and independent criticism.</a:t>
            </a:r>
          </a:p>
          <a:p>
            <a:endParaRPr lang="en-US" dirty="0"/>
          </a:p>
          <a:p>
            <a:r>
              <a:rPr lang="en-US" dirty="0"/>
              <a:t>(Original scene 53)</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was not only an accomplished engineer. He was an enthusiastic distance runner, with a demanding athletic routine and ambitions that reached beyond the computer screen. In 2009, as Bitcoin began, he was in excellent physical condition.</a:t>
            </a:r>
          </a:p>
          <a:p>
            <a:endParaRPr lang="en-US" dirty="0"/>
          </a:p>
          <a:p>
            <a:r>
              <a:rPr lang="en-US" dirty="0"/>
              <a:t>Source: Fran's recollections and Hal's *Bitcoin and Me*.</a:t>
            </a:r>
          </a:p>
          <a:p>
            <a:endParaRPr lang="en-US" dirty="0"/>
          </a:p>
          <a:p>
            <a:r>
              <a:rPr lang="en-US" dirty="0"/>
              <a:t>(Original scene 54)</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months after Bitcoin's launch, Hal was diagnosed with ALS. The disease would progressively take away his ability to move and speak. It did not end his interest in building and understanding software.</a:t>
            </a:r>
          </a:p>
          <a:p>
            <a:endParaRPr lang="en-US" dirty="0"/>
          </a:p>
          <a:p>
            <a:r>
              <a:rPr lang="en-US" dirty="0"/>
              <a:t>Source: Hal's *Bitcoin and Me* and family reporting.</a:t>
            </a:r>
          </a:p>
          <a:p>
            <a:endParaRPr lang="en-US" dirty="0"/>
          </a:p>
          <a:p>
            <a:r>
              <a:rPr lang="en-US" dirty="0"/>
              <a:t>(Original scene 55)</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Fran helped turn a marathon into a fundraising effort for ALS research. Hal could no longer run the full distance, but he joined the final portion and crossed the finish line. The endurance that shaped his running would shape the final years of his life.</a:t>
            </a:r>
          </a:p>
          <a:p>
            <a:endParaRPr lang="en-US" dirty="0"/>
          </a:p>
          <a:p>
            <a:r>
              <a:rPr lang="en-US" dirty="0"/>
              <a:t>Source: Contemporary Noozhawk reporting and family account.</a:t>
            </a:r>
          </a:p>
          <a:p>
            <a:endParaRPr lang="en-US" dirty="0"/>
          </a:p>
          <a:p>
            <a:r>
              <a:rPr lang="en-US" dirty="0"/>
              <a:t>(Original scene 56)</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ALS progressed, Hal continued working with assistive technology. In 2013, he published *Bitcoin and Me*: an extraordinarily personal account of Bitcoin's first days. He wrote about Satoshi as someone else. His story deserves to be heard on its own terms.</a:t>
            </a:r>
          </a:p>
          <a:p>
            <a:endParaRPr lang="en-US" dirty="0"/>
          </a:p>
          <a:p>
            <a:r>
              <a:rPr lang="en-US" dirty="0"/>
              <a:t>Source: Hal's original essay.</a:t>
            </a:r>
          </a:p>
          <a:p>
            <a:endParaRPr lang="en-US" dirty="0"/>
          </a:p>
          <a:p>
            <a:r>
              <a:rPr lang="en-US" dirty="0"/>
              <a:t>(Original scene 57)</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Finney died on August 28, 2014. He helped make encryption available to ordinary people, built a remarkable digital-cash experiment, and became one of Bitcoin's first advocates.</a:t>
            </a:r>
          </a:p>
          <a:p>
            <a:endParaRPr lang="en-US" dirty="0"/>
          </a:p>
          <a:p>
            <a:r>
              <a:rPr lang="en-US" dirty="0"/>
              <a:t>Source: Family and obituary records; final sentence deliberately distinguishes evidence from conjecture.</a:t>
            </a:r>
          </a:p>
          <a:p>
            <a:endParaRPr lang="en-US" dirty="0"/>
          </a:p>
          <a:p>
            <a:r>
              <a:rPr lang="en-US" dirty="0"/>
              <a:t>(Original scene 58)</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he secretly helped invent Bitcoin remains unresolved. His documented achievements need no mystery to matter.</a:t>
            </a:r>
          </a:p>
          <a:p>
            <a:endParaRPr lang="en-US" dirty="0"/>
          </a:p>
          <a:p>
            <a:r>
              <a:rPr lang="en-US" dirty="0"/>
              <a:t>Source: Family and obituary records; final sentence deliberately distinguishes evidence from conjecture.</a:t>
            </a:r>
          </a:p>
          <a:p>
            <a:endParaRPr lang="en-US" dirty="0"/>
          </a:p>
          <a:p>
            <a:r>
              <a:rPr lang="en-US" dirty="0"/>
              <a:t>(Original scene 58)</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ck">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2.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 HISTORICAL INVESTIGATION</a:t>
            </a:r>
            <a:endParaRPr lang="en-US" sz="1800" dirty="0"/>
          </a:p>
          <a:p>
            <a:pPr algn="l" indent="0" marL="0">
              <a:lnSpc>
                <a:spcPct val="92000"/>
              </a:lnSpc>
              <a:spcBef>
                <a:spcPts val="810"/>
              </a:spcBef>
              <a:buNone/>
            </a:pPr>
            <a:r>
              <a:rPr lang="en-US" sz="13200" b="1" dirty="0">
                <a:solidFill>
                  <a:srgbClr val="FFFFFF"/>
                </a:solidFill>
                <a:latin typeface="Helvetica Neue" pitchFamily="34" charset="0"/>
                <a:ea typeface="Helvetica Neue" pitchFamily="34" charset="-122"/>
                <a:cs typeface="Helvetica Neue" pitchFamily="34" charset="-120"/>
              </a:rPr>
              <a:t>Who was</a:t>
            </a:r>
            <a:endParaRPr lang="en-US" sz="1800" dirty="0"/>
          </a:p>
          <a:p>
            <a:pPr algn="l" indent="0" marL="0">
              <a:lnSpc>
                <a:spcPct val="92000"/>
              </a:lnSpc>
              <a:buNone/>
            </a:pPr>
            <a:r>
              <a:rPr lang="en-US" sz="13200" b="1" dirty="0">
                <a:solidFill>
                  <a:srgbClr val="FFFFFF"/>
                </a:solidFill>
                <a:latin typeface="Helvetica Neue" pitchFamily="34" charset="0"/>
                <a:ea typeface="Helvetica Neue" pitchFamily="34" charset="-122"/>
                <a:cs typeface="Helvetica Neue" pitchFamily="34" charset="-120"/>
              </a:rPr>
              <a:t>Satoshi</a:t>
            </a:r>
            <a:pPr indent="0" marL="0">
              <a:buNone/>
            </a:pPr>
            <a:r>
              <a:rPr lang="en-US" sz="13200" b="1" dirty="0">
                <a:solidFill>
                  <a:srgbClr val="F7931A"/>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2600"/>
              </a:spcBef>
              <a:buNone/>
            </a:pPr>
            <a:r>
              <a:rPr lang="en-US" sz="3000" dirty="0">
                <a:solidFill>
                  <a:srgbClr val="AEAEB2"/>
                </a:solidFill>
                <a:latin typeface="Helvetica Neue Light" pitchFamily="34" charset="0"/>
                <a:ea typeface="Helvetica Neue Light" pitchFamily="34" charset="-122"/>
                <a:cs typeface="Helvetica Neue Light" pitchFamily="34" charset="-120"/>
              </a:rPr>
              <a:t>The road to Bitcoin, 1972–2014</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914400" y="6199632"/>
            <a:ext cx="10362895" cy="0"/>
          </a:xfrm>
          <a:prstGeom prst="line">
            <a:avLst/>
          </a:prstGeom>
          <a:noFill/>
          <a:ln w="31750">
            <a:solidFill>
              <a:srgbClr val="F7931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I</a:t>
            </a:r>
            <a:endParaRPr lang="en-US" sz="1800" dirty="0"/>
          </a:p>
          <a:p>
            <a:pPr algn="l" indent="0" marL="0">
              <a:lnSpc>
                <a:spcPct val="92000"/>
              </a:lnSpc>
              <a:spcBef>
                <a:spcPts val="810"/>
              </a:spcBef>
              <a:buNone/>
            </a:pPr>
            <a:r>
              <a:rPr lang="en-US" sz="11200" b="1" dirty="0">
                <a:solidFill>
                  <a:srgbClr val="FFFFFF"/>
                </a:solidFill>
                <a:latin typeface="Helvetica Neue" pitchFamily="34" charset="0"/>
                <a:ea typeface="Helvetica Neue" pitchFamily="34" charset="-122"/>
                <a:cs typeface="Helvetica Neue" pitchFamily="34" charset="-120"/>
              </a:rPr>
              <a:t>The</a:t>
            </a:r>
            <a:endParaRPr lang="en-US" sz="1800" dirty="0"/>
          </a:p>
          <a:p>
            <a:pPr algn="l" indent="0" marL="0">
              <a:lnSpc>
                <a:spcPct val="92000"/>
              </a:lnSpc>
              <a:buNone/>
            </a:pPr>
            <a:r>
              <a:rPr lang="en-US" sz="11200" b="1" dirty="0">
                <a:solidFill>
                  <a:srgbClr val="FFFFFF"/>
                </a:solidFill>
                <a:latin typeface="Helvetica Neue" pitchFamily="34" charset="0"/>
                <a:ea typeface="Helvetica Neue" pitchFamily="34" charset="-122"/>
                <a:cs typeface="Helvetica Neue" pitchFamily="34" charset="-120"/>
              </a:rPr>
              <a:t>Mathematician</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1972 – 1979</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914400" y="6199632"/>
            <a:ext cx="1727149" cy="0"/>
          </a:xfrm>
          <a:prstGeom prst="line">
            <a:avLst/>
          </a:prstGeom>
          <a:noFill/>
          <a:ln w="31750">
            <a:solidFill>
              <a:srgbClr val="F7931A"/>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photo" descr="/Users/fredkrueger/satoshi/assets/hal-1972.jpg">    </p:cNvPr>
          <p:cNvPicPr>
            <a:picLocks noChangeAspect="1"/>
          </p:cNvPicPr>
          <p:nvPr/>
        </p:nvPicPr>
        <p:blipFill>
          <a:blip r:embed="rId1"/>
          <a:stretch>
            <a:fillRect/>
          </a:stretch>
        </p:blipFill>
        <p:spPr>
          <a:xfrm>
            <a:off x="6675120" y="590904"/>
            <a:ext cx="5105095" cy="5127552"/>
          </a:xfrm>
          <a:prstGeom prst="rect">
            <a:avLst/>
          </a:prstGeom>
        </p:spPr>
      </p:pic>
      <p:sp>
        <p:nvSpPr>
          <p:cNvPr id="3" name="text"/>
          <p:cNvSpPr txBox="1"/>
          <p:nvPr/>
        </p:nvSpPr>
        <p:spPr>
          <a:xfrm>
            <a:off x="914400" y="502920"/>
            <a:ext cx="585216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1972 · AGE 16</a:t>
            </a:r>
            <a:endParaRPr lang="en-US" sz="1800" dirty="0"/>
          </a:p>
          <a:p>
            <a:pPr algn="l" indent="0" marL="0">
              <a:lnSpc>
                <a:spcPct val="92000"/>
              </a:lnSpc>
              <a:spcBef>
                <a:spcPts val="810"/>
              </a:spcBef>
              <a:buNone/>
            </a:pPr>
            <a:r>
              <a:rPr lang="en-US" sz="5800" b="1" dirty="0">
                <a:solidFill>
                  <a:srgbClr val="FFFFFF"/>
                </a:solidFill>
                <a:latin typeface="Helvetica Neue" pitchFamily="34" charset="0"/>
                <a:ea typeface="Helvetica Neue" pitchFamily="34" charset="-122"/>
                <a:cs typeface="Helvetica Neue" pitchFamily="34" charset="-120"/>
              </a:rPr>
              <a:t>The young</a:t>
            </a:r>
            <a:endParaRPr lang="en-US" sz="1800" dirty="0"/>
          </a:p>
          <a:p>
            <a:pPr algn="l" indent="0" marL="0">
              <a:lnSpc>
                <a:spcPct val="92000"/>
              </a:lnSpc>
              <a:buNone/>
            </a:pPr>
            <a:r>
              <a:rPr lang="en-US" sz="5800" b="1" dirty="0">
                <a:solidFill>
                  <a:srgbClr val="FFFFFF"/>
                </a:solidFill>
                <a:latin typeface="Helvetica Neue" pitchFamily="34" charset="0"/>
                <a:ea typeface="Helvetica Neue" pitchFamily="34" charset="-122"/>
                <a:cs typeface="Helvetica Neue" pitchFamily="34" charset="-120"/>
              </a:rPr>
              <a:t>mathematician</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Drawn to problems with</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precise answers — answers</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that could take hours to find.</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854964" y="6140196"/>
            <a:ext cx="118872" cy="118872"/>
          </a:xfrm>
          <a:prstGeom prst="ellipse">
            <a:avLst/>
          </a:prstGeom>
          <a:solidFill>
            <a:srgbClr val="F7931A"/>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1974 · AGE 18</a:t>
            </a:r>
            <a:endParaRPr lang="en-US" sz="1800" dirty="0"/>
          </a:p>
          <a:p>
            <a:pPr algn="l" indent="0" marL="0">
              <a:lnSpc>
                <a:spcPct val="86000"/>
              </a:lnSpc>
              <a:spcBef>
                <a:spcPts val="810"/>
              </a:spcBef>
              <a:buNone/>
            </a:pPr>
            <a:r>
              <a:rPr lang="en-US" sz="18800" b="1" dirty="0">
                <a:solidFill>
                  <a:srgbClr val="F7931A"/>
                </a:solidFill>
                <a:latin typeface="Helvetica Neue" pitchFamily="34" charset="0"/>
                <a:ea typeface="Helvetica Neue" pitchFamily="34" charset="-122"/>
                <a:cs typeface="Helvetica Neue" pitchFamily="34" charset="-120"/>
              </a:rPr>
              <a:t>Six</a:t>
            </a:r>
            <a:pPr indent="0" marL="0">
              <a:buNone/>
            </a:pPr>
            <a:r>
              <a:rPr lang="en-US" sz="18800" b="1" dirty="0">
                <a:solidFill>
                  <a:srgbClr val="FFFFFF"/>
                </a:solidFill>
                <a:latin typeface="Helvetica Neue" pitchFamily="34" charset="0"/>
                <a:ea typeface="Helvetica Neue" pitchFamily="34" charset="-122"/>
                <a:cs typeface="Helvetica Neue" pitchFamily="34" charset="-120"/>
              </a:rPr>
              <a:t> miles</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From Arcadia High School, valedictorian, to Caltech.</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348435" y="6140196"/>
            <a:ext cx="118872" cy="118872"/>
          </a:xfrm>
          <a:prstGeom prst="ellipse">
            <a:avLst/>
          </a:prstGeom>
          <a:solidFill>
            <a:srgbClr val="F7931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photo" descr="/Users/fredkrueger/satoshi/assets/caltech.jpg">    </p:cNvPr>
          <p:cNvPicPr>
            <a:picLocks noChangeAspect="1"/>
          </p:cNvPicPr>
          <p:nvPr/>
        </p:nvPicPr>
        <p:blipFill>
          <a:blip r:embed="rId1"/>
          <a:stretch>
            <a:fillRect/>
          </a:stretch>
        </p:blipFill>
        <p:spPr>
          <a:xfrm>
            <a:off x="6675120" y="1452153"/>
            <a:ext cx="5105095" cy="3405054"/>
          </a:xfrm>
          <a:prstGeom prst="rect">
            <a:avLst/>
          </a:prstGeom>
        </p:spPr>
      </p:pic>
      <p:sp>
        <p:nvSpPr>
          <p:cNvPr id="3" name="text"/>
          <p:cNvSpPr txBox="1"/>
          <p:nvPr/>
        </p:nvSpPr>
        <p:spPr>
          <a:xfrm>
            <a:off x="914400" y="502920"/>
            <a:ext cx="585216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1974 · AGE 18</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Caltech</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Mathematics, physics, engineering</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 and, increasingly, computers.</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1521150" y="6140196"/>
            <a:ext cx="118872" cy="118872"/>
          </a:xfrm>
          <a:prstGeom prst="ellipse">
            <a:avLst/>
          </a:prstGeom>
          <a:solidFill>
            <a:srgbClr val="F7931A"/>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hoto" descr="/Users/fredkrueger/satoshi/assets/feller.jpg">    </p:cNvPr>
          <p:cNvPicPr>
            <a:picLocks noChangeAspect="1"/>
          </p:cNvPicPr>
          <p:nvPr/>
        </p:nvPicPr>
        <p:blipFill>
          <a:blip r:embed="rId1"/>
          <a:stretch>
            <a:fillRect/>
          </a:stretch>
        </p:blipFill>
        <p:spPr>
          <a:xfrm>
            <a:off x="8002166" y="457200"/>
            <a:ext cx="3778049" cy="5394960"/>
          </a:xfrm>
          <a:prstGeom prst="rect">
            <a:avLst/>
          </a:prstGeom>
        </p:spPr>
      </p:pic>
      <p:sp>
        <p:nvSpPr>
          <p:cNvPr id="3" name="text"/>
          <p:cNvSpPr txBox="1"/>
          <p:nvPr/>
        </p:nvSpPr>
        <p:spPr>
          <a:xfrm>
            <a:off x="914400" y="502920"/>
            <a:ext cx="658368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1970S · MATHEMATICS</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A classic text</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William Feller’s</a:t>
            </a:r>
            <a:pPr indent="0" marL="0">
              <a:buNone/>
            </a:pPr>
            <a:r>
              <a:rPr lang="en-US" sz="2600" dirty="0">
                <a:solidFill>
                  <a:srgbClr val="F7931A"/>
                </a:solidFill>
                <a:latin typeface="Helvetica Neue Light" pitchFamily="34" charset="0"/>
                <a:ea typeface="Helvetica Neue Light" pitchFamily="34" charset="-122"/>
                <a:cs typeface="Helvetica Neue Light" pitchFamily="34" charset="-120"/>
              </a:rPr>
              <a:t> probability</a:t>
            </a:r>
            <a:endParaRPr lang="en-US" sz="1800" dirty="0"/>
          </a:p>
          <a:p>
            <a:pPr algn="l" indent="0" marL="0">
              <a:lnSpc>
                <a:spcPct val="110000"/>
              </a:lnSpc>
              <a:buNone/>
            </a:pPr>
            <a:r>
              <a:rPr lang="en-US" sz="2600" dirty="0">
                <a:solidFill>
                  <a:srgbClr val="F7931A"/>
                </a:solidFill>
                <a:latin typeface="Helvetica Neue Light" pitchFamily="34" charset="0"/>
                <a:ea typeface="Helvetica Neue Light" pitchFamily="34" charset="-122"/>
                <a:cs typeface="Helvetica Neue Light" pitchFamily="34" charset="-120"/>
              </a:rPr>
              <a:t>theory</a:t>
            </a:r>
            <a:pPr indent="0" marL="0">
              <a:buNone/>
            </a:pPr>
            <a:r>
              <a:rPr lang="en-US" sz="2600" dirty="0">
                <a:solidFill>
                  <a:srgbClr val="AEAEB2"/>
                </a:solidFill>
                <a:latin typeface="Helvetica Neue Light" pitchFamily="34" charset="0"/>
                <a:ea typeface="Helvetica Neue Light" pitchFamily="34" charset="-122"/>
                <a:cs typeface="Helvetica Neue Light" pitchFamily="34" charset="-120"/>
              </a:rPr>
              <a:t>. Decades later, Satoshi</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would cite it in the whitepaper.</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1841906" y="6140196"/>
            <a:ext cx="118872" cy="118872"/>
          </a:xfrm>
          <a:prstGeom prst="ellipse">
            <a:avLst/>
          </a:prstGeom>
          <a:solidFill>
            <a:srgbClr val="F7931A"/>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hoto" descr="/Users/fredkrueger/satoshi/assets/hal-and-fran.jpg">    </p:cNvPr>
          <p:cNvPicPr>
            <a:picLocks noChangeAspect="1"/>
          </p:cNvPicPr>
          <p:nvPr/>
        </p:nvPicPr>
        <p:blipFill>
          <a:blip r:embed="rId1"/>
          <a:stretch>
            <a:fillRect/>
          </a:stretch>
        </p:blipFill>
        <p:spPr>
          <a:xfrm>
            <a:off x="6675120" y="1447664"/>
            <a:ext cx="5105095" cy="3414032"/>
          </a:xfrm>
          <a:prstGeom prst="rect">
            <a:avLst/>
          </a:prstGeom>
        </p:spPr>
      </p:pic>
      <p:sp>
        <p:nvSpPr>
          <p:cNvPr id="3" name="text"/>
          <p:cNvSpPr txBox="1"/>
          <p:nvPr/>
        </p:nvSpPr>
        <p:spPr>
          <a:xfrm>
            <a:off x="914400" y="502920"/>
            <a:ext cx="585216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1978 · AGE 22</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Hal and Fran</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A partnership through</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remarkable achievements —</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and extraordinary hardship.</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2335378" y="6140196"/>
            <a:ext cx="118872" cy="118872"/>
          </a:xfrm>
          <a:prstGeom prst="ellipse">
            <a:avLst/>
          </a:prstGeom>
          <a:solidFill>
            <a:srgbClr val="F7931A"/>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hoto" descr="/Users/fredkrueger/satoshi/assets/intellivision.jpg">    </p:cNvPr>
          <p:cNvPicPr>
            <a:picLocks noChangeAspect="1"/>
          </p:cNvPicPr>
          <p:nvPr/>
        </p:nvPicPr>
        <p:blipFill>
          <a:blip r:embed="rId1"/>
          <a:stretch>
            <a:fillRect/>
          </a:stretch>
        </p:blipFill>
        <p:spPr>
          <a:xfrm>
            <a:off x="6675120" y="1581495"/>
            <a:ext cx="5105095" cy="3146369"/>
          </a:xfrm>
          <a:prstGeom prst="rect">
            <a:avLst/>
          </a:prstGeom>
        </p:spPr>
      </p:pic>
      <p:sp>
        <p:nvSpPr>
          <p:cNvPr id="3" name="text"/>
          <p:cNvSpPr txBox="1"/>
          <p:nvPr/>
        </p:nvSpPr>
        <p:spPr>
          <a:xfrm>
            <a:off x="914400" y="502920"/>
            <a:ext cx="585216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1979 · AGE 23</a:t>
            </a:r>
            <a:endParaRPr lang="en-US" sz="1800" dirty="0"/>
          </a:p>
          <a:p>
            <a:pPr algn="l" indent="0" marL="0">
              <a:lnSpc>
                <a:spcPct val="92000"/>
              </a:lnSpc>
              <a:spcBef>
                <a:spcPts val="810"/>
              </a:spcBef>
              <a:buNone/>
            </a:pPr>
            <a:r>
              <a:rPr lang="en-US" sz="5200" b="1" dirty="0">
                <a:solidFill>
                  <a:srgbClr val="FFFFFF"/>
                </a:solidFill>
                <a:latin typeface="Helvetica Neue" pitchFamily="34" charset="0"/>
                <a:ea typeface="Helvetica Neue" pitchFamily="34" charset="-122"/>
                <a:cs typeface="Helvetica Neue" pitchFamily="34" charset="-120"/>
              </a:rPr>
              <a:t>The programmer</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Mattel’s Intellivision:</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sophisticated systems in</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extraordinarily little memory.</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2705481" y="6140196"/>
            <a:ext cx="118872" cy="118872"/>
          </a:xfrm>
          <a:prstGeom prst="ellipse">
            <a:avLst/>
          </a:prstGeom>
          <a:solidFill>
            <a:srgbClr val="F7931A"/>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II</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Trust and</a:t>
            </a:r>
            <a:endParaRPr lang="en-US" sz="1800" dirty="0"/>
          </a:p>
          <a:p>
            <a:pPr algn="l" indent="0" marL="0">
              <a:lnSpc>
                <a:spcPct val="92000"/>
              </a:lnSpc>
              <a:buNone/>
            </a:pPr>
            <a:r>
              <a:rPr lang="en-US" sz="11600" b="1" dirty="0">
                <a:solidFill>
                  <a:srgbClr val="FFFFFF"/>
                </a:solidFill>
                <a:latin typeface="Helvetica Neue" pitchFamily="34" charset="0"/>
                <a:ea typeface="Helvetica Neue" pitchFamily="34" charset="-122"/>
                <a:cs typeface="Helvetica Neue" pitchFamily="34" charset="-120"/>
              </a:rPr>
              <a:t>Privacy</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1981 – 1993</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3135020" y="6199632"/>
            <a:ext cx="2960827" cy="0"/>
          </a:xfrm>
          <a:prstGeom prst="line">
            <a:avLst/>
          </a:prstGeom>
          <a:noFill/>
          <a:ln w="31750">
            <a:solidFill>
              <a:srgbClr val="F7931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ortrait" descr="/Users/fredkrueger/satoshi/assets/chaum.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EARLY 1980S · A PARALLEL STORY</a:t>
            </a:r>
            <a:endParaRPr lang="en-US" sz="1800" dirty="0"/>
          </a:p>
          <a:p>
            <a:pPr algn="l" indent="0" marL="0">
              <a:lnSpc>
                <a:spcPct val="92000"/>
              </a:lnSpc>
              <a:spcBef>
                <a:spcPts val="810"/>
              </a:spcBef>
              <a:buNone/>
            </a:pPr>
            <a:r>
              <a:rPr lang="en-US" sz="6400" b="1" dirty="0">
                <a:solidFill>
                  <a:srgbClr val="FFFFFF"/>
                </a:solidFill>
                <a:latin typeface="Helvetica Neue" pitchFamily="34" charset="0"/>
                <a:ea typeface="Helvetica Neue" pitchFamily="34" charset="-122"/>
                <a:cs typeface="Helvetica Neue" pitchFamily="34" charset="-120"/>
              </a:rPr>
              <a:t>David Chaum</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How can people who distrust</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one another run a</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trustworthy</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computer system?</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3075584" y="6140196"/>
            <a:ext cx="118872" cy="118872"/>
          </a:xfrm>
          <a:prstGeom prst="ellipse">
            <a:avLst/>
          </a:prstGeom>
          <a:solidFill>
            <a:srgbClr val="F7931A"/>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hoto" descr="/Users/fredkrueger/satoshi/assets/chaum-dissertation.jpg">    </p:cNvPr>
          <p:cNvPicPr>
            <a:picLocks noChangeAspect="1"/>
          </p:cNvPicPr>
          <p:nvPr/>
        </p:nvPicPr>
        <p:blipFill>
          <a:blip r:embed="rId1"/>
          <a:stretch>
            <a:fillRect/>
          </a:stretch>
        </p:blipFill>
        <p:spPr>
          <a:xfrm>
            <a:off x="7653268" y="457200"/>
            <a:ext cx="4126948" cy="5394960"/>
          </a:xfrm>
          <a:prstGeom prst="rect">
            <a:avLst/>
          </a:prstGeom>
        </p:spPr>
      </p:pic>
      <p:sp>
        <p:nvSpPr>
          <p:cNvPr id="3" name="text"/>
          <p:cNvSpPr txBox="1"/>
          <p:nvPr/>
        </p:nvSpPr>
        <p:spPr>
          <a:xfrm>
            <a:off x="914400" y="502920"/>
            <a:ext cx="658368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1982 · UC BERKELEY</a:t>
            </a:r>
            <a:endParaRPr lang="en-US" sz="1800" dirty="0"/>
          </a:p>
          <a:p>
            <a:pPr algn="l" indent="0" marL="0">
              <a:lnSpc>
                <a:spcPct val="92000"/>
              </a:lnSpc>
              <a:spcBef>
                <a:spcPts val="810"/>
              </a:spcBef>
              <a:buNone/>
            </a:pPr>
            <a:r>
              <a:rPr lang="en-US" sz="5400" b="1" dirty="0">
                <a:solidFill>
                  <a:srgbClr val="FFFFFF"/>
                </a:solidFill>
                <a:latin typeface="Helvetica Neue" pitchFamily="34" charset="0"/>
                <a:ea typeface="Helvetica Neue" pitchFamily="34" charset="-122"/>
                <a:cs typeface="Helvetica Neue" pitchFamily="34" charset="-120"/>
              </a:rPr>
              <a:t>Mutually</a:t>
            </a:r>
            <a:endParaRPr lang="en-US" sz="1800" dirty="0"/>
          </a:p>
          <a:p>
            <a:pPr algn="l" indent="0" marL="0">
              <a:lnSpc>
                <a:spcPct val="92000"/>
              </a:lnSpc>
              <a:buNone/>
            </a:pPr>
            <a:r>
              <a:rPr lang="en-US" sz="5400" b="1" dirty="0">
                <a:solidFill>
                  <a:srgbClr val="FFFFFF"/>
                </a:solidFill>
                <a:latin typeface="Helvetica Neue" pitchFamily="34" charset="0"/>
                <a:ea typeface="Helvetica Neue" pitchFamily="34" charset="-122"/>
                <a:cs typeface="Helvetica Neue" pitchFamily="34" charset="-120"/>
              </a:rPr>
              <a:t>suspicious groups</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The problem of</a:t>
            </a:r>
            <a:pPr indent="0" marL="0">
              <a:buNone/>
            </a:pPr>
            <a:r>
              <a:rPr lang="en-US" sz="2600" dirty="0">
                <a:solidFill>
                  <a:srgbClr val="F7931A"/>
                </a:solidFill>
                <a:latin typeface="Helvetica Neue Light" pitchFamily="34" charset="0"/>
                <a:ea typeface="Helvetica Neue Light" pitchFamily="34" charset="-122"/>
                <a:cs typeface="Helvetica Neue Light" pitchFamily="34" charset="-120"/>
              </a:rPr>
              <a:t> trust</a:t>
            </a:r>
            <a:pPr indent="0" marL="0">
              <a:buNone/>
            </a:pPr>
            <a:r>
              <a:rPr lang="en-US" sz="2600" dirty="0">
                <a:solidFill>
                  <a:srgbClr val="AEAEB2"/>
                </a:solidFill>
                <a:latin typeface="Helvetica Neue Light" pitchFamily="34" charset="0"/>
                <a:ea typeface="Helvetica Neue Light" pitchFamily="34" charset="-122"/>
                <a:cs typeface="Helvetica Neue Light" pitchFamily="34" charset="-120"/>
              </a:rPr>
              <a:t> — central to</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digital money, and one day to Bitcoin.</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3322320" y="6140196"/>
            <a:ext cx="118872" cy="118872"/>
          </a:xfrm>
          <a:prstGeom prst="ellipse">
            <a:avLst/>
          </a:prstGeom>
          <a:solidFill>
            <a:srgbClr val="F7931A"/>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hoto" descr="/Users/fredkrueger/satoshi/assets/blind-signatures.jpg">    </p:cNvPr>
          <p:cNvPicPr>
            <a:picLocks noChangeAspect="1"/>
          </p:cNvPicPr>
          <p:nvPr/>
        </p:nvPicPr>
        <p:blipFill>
          <a:blip r:embed="rId1"/>
          <a:stretch>
            <a:fillRect/>
          </a:stretch>
        </p:blipFill>
        <p:spPr>
          <a:xfrm>
            <a:off x="7873792" y="457200"/>
            <a:ext cx="3906424" cy="5394960"/>
          </a:xfrm>
          <a:prstGeom prst="rect">
            <a:avLst/>
          </a:prstGeom>
        </p:spPr>
      </p:pic>
      <p:sp>
        <p:nvSpPr>
          <p:cNvPr id="3" name="text"/>
          <p:cNvSpPr txBox="1"/>
          <p:nvPr/>
        </p:nvSpPr>
        <p:spPr>
          <a:xfrm>
            <a:off x="914400" y="502920"/>
            <a:ext cx="658368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1982 · CRYPTO ’82</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Blind signatures</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Electronic payments with</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the privacy of</a:t>
            </a:r>
            <a:pPr indent="0" marL="0">
              <a:buNone/>
            </a:pPr>
            <a:r>
              <a:rPr lang="en-US" sz="2600" dirty="0">
                <a:solidFill>
                  <a:srgbClr val="F7931A"/>
                </a:solidFill>
                <a:latin typeface="Helvetica Neue Light" pitchFamily="34" charset="0"/>
                <a:ea typeface="Helvetica Neue Light" pitchFamily="34" charset="-122"/>
                <a:cs typeface="Helvetica Neue Light" pitchFamily="34" charset="-120"/>
              </a:rPr>
              <a:t> physical cash</a:t>
            </a:r>
            <a:pPr indent="0" marL="0">
              <a:buNone/>
            </a:pPr>
            <a:r>
              <a:rPr lang="en-US" sz="26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3470361" y="6140196"/>
            <a:ext cx="118872" cy="118872"/>
          </a:xfrm>
          <a:prstGeom prst="ellipse">
            <a:avLst/>
          </a:prstGeom>
          <a:solidFill>
            <a:srgbClr val="F7931A"/>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portrait" descr="/Users/fredkrueger/satoshi/assets/zimmermann.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1991</a:t>
            </a:r>
            <a:endParaRPr lang="en-US" sz="1800" dirty="0"/>
          </a:p>
          <a:p>
            <a:pPr algn="l" indent="0" marL="0">
              <a:lnSpc>
                <a:spcPct val="92000"/>
              </a:lnSpc>
              <a:spcBef>
                <a:spcPts val="810"/>
              </a:spcBef>
              <a:buNone/>
            </a:pPr>
            <a:r>
              <a:rPr lang="en-US" sz="5800" b="1" dirty="0">
                <a:solidFill>
                  <a:srgbClr val="FFFFFF"/>
                </a:solidFill>
                <a:latin typeface="Helvetica Neue" pitchFamily="34" charset="0"/>
                <a:ea typeface="Helvetica Neue" pitchFamily="34" charset="-122"/>
                <a:cs typeface="Helvetica Neue" pitchFamily="34" charset="-120"/>
              </a:rPr>
              <a:t>Phil Zimmermann</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PGP: strong encryption for</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ordinary users.</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Hal Finney</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contributed as a programmer.</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5641635" y="6140196"/>
            <a:ext cx="118872" cy="118872"/>
          </a:xfrm>
          <a:prstGeom prst="ellipse">
            <a:avLst/>
          </a:prstGeom>
          <a:solidFill>
            <a:srgbClr val="F7931A"/>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photo" descr="/Users/fredkrueger/satoshi/assets/dwork-naor.jpg">    </p:cNvPr>
          <p:cNvPicPr>
            <a:picLocks noChangeAspect="1"/>
          </p:cNvPicPr>
          <p:nvPr/>
        </p:nvPicPr>
        <p:blipFill>
          <a:blip r:embed="rId1"/>
          <a:stretch>
            <a:fillRect/>
          </a:stretch>
        </p:blipFill>
        <p:spPr>
          <a:xfrm>
            <a:off x="8309773" y="457200"/>
            <a:ext cx="3470442" cy="5394960"/>
          </a:xfrm>
          <a:prstGeom prst="rect">
            <a:avLst/>
          </a:prstGeom>
        </p:spPr>
      </p:pic>
      <p:sp>
        <p:nvSpPr>
          <p:cNvPr id="3" name="text"/>
          <p:cNvSpPr txBox="1"/>
          <p:nvPr/>
        </p:nvSpPr>
        <p:spPr>
          <a:xfrm>
            <a:off x="914400" y="502920"/>
            <a:ext cx="658368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1992 · CRYPTO ’92</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Computation</a:t>
            </a:r>
            <a:endParaRPr lang="en-US" sz="1800" dirty="0"/>
          </a:p>
          <a:p>
            <a:pPr algn="l" indent="0" marL="0">
              <a:lnSpc>
                <a:spcPct val="92000"/>
              </a:lnSpc>
              <a:buNone/>
            </a:pPr>
            <a:r>
              <a:rPr lang="en-US" sz="6000" b="1" dirty="0">
                <a:solidFill>
                  <a:srgbClr val="FFFFFF"/>
                </a:solidFill>
                <a:latin typeface="Helvetica Neue" pitchFamily="34" charset="0"/>
                <a:ea typeface="Helvetica Neue" pitchFamily="34" charset="-122"/>
                <a:cs typeface="Helvetica Neue" pitchFamily="34" charset="-120"/>
              </a:rPr>
              <a:t>as a price</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Cynthia Dwork and Moni Naor: make the</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sender of junk email do a little work first.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5937717" y="6140196"/>
            <a:ext cx="118872" cy="118872"/>
          </a:xfrm>
          <a:prstGeom prst="ellipse">
            <a:avLst/>
          </a:prstGeom>
          <a:solidFill>
            <a:srgbClr val="F7931A"/>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1992</a:t>
            </a:r>
            <a:endParaRPr lang="en-US" sz="1800" dirty="0"/>
          </a:p>
          <a:p>
            <a:pPr algn="l" indent="0" marL="0">
              <a:lnSpc>
                <a:spcPct val="92000"/>
              </a:lnSpc>
              <a:spcBef>
                <a:spcPts val="810"/>
              </a:spcBef>
              <a:buNone/>
            </a:pPr>
            <a:r>
              <a:rPr lang="en-US" sz="7600" b="1" dirty="0">
                <a:solidFill>
                  <a:srgbClr val="FFFFFF"/>
                </a:solidFill>
                <a:latin typeface="Helvetica Neue" pitchFamily="34" charset="0"/>
                <a:ea typeface="Helvetica Neue" pitchFamily="34" charset="-122"/>
                <a:cs typeface="Helvetica Neue" pitchFamily="34" charset="-120"/>
              </a:rPr>
              <a:t>Expensive to produce.</a:t>
            </a:r>
            <a:endParaRPr lang="en-US" sz="1800" dirty="0"/>
          </a:p>
          <a:p>
            <a:pPr algn="l" indent="0" marL="0">
              <a:lnSpc>
                <a:spcPct val="92000"/>
              </a:lnSpc>
              <a:buNone/>
            </a:pPr>
            <a:r>
              <a:rPr lang="en-US" sz="7600" b="1" dirty="0">
                <a:solidFill>
                  <a:srgbClr val="FFFFFF"/>
                </a:solidFill>
                <a:latin typeface="Helvetica Neue" pitchFamily="34" charset="0"/>
                <a:ea typeface="Helvetica Neue" pitchFamily="34" charset="-122"/>
                <a:cs typeface="Helvetica Neue" pitchFamily="34" charset="-120"/>
              </a:rPr>
              <a:t>Cheap to</a:t>
            </a:r>
            <a:pPr indent="0" marL="0">
              <a:buNone/>
            </a:pPr>
            <a:r>
              <a:rPr lang="en-US" sz="7600" b="1" dirty="0">
                <a:solidFill>
                  <a:srgbClr val="F7931A"/>
                </a:solidFill>
                <a:latin typeface="Helvetica Neue" pitchFamily="34" charset="0"/>
                <a:ea typeface="Helvetica Neue" pitchFamily="34" charset="-122"/>
                <a:cs typeface="Helvetica Neue" pitchFamily="34" charset="-120"/>
              </a:rPr>
              <a:t> verify</a:t>
            </a:r>
            <a:pPr indent="0" marL="0">
              <a:buNone/>
            </a:pPr>
            <a:r>
              <a:rPr lang="en-US" sz="76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An ancestor of proof of work.</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5937717" y="6140196"/>
            <a:ext cx="118872" cy="118872"/>
          </a:xfrm>
          <a:prstGeom prst="ellipse">
            <a:avLst/>
          </a:prstGeom>
          <a:solidFill>
            <a:srgbClr val="F7931A"/>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photo" descr="/Users/fredkrueger/satoshi/assets/wired-1993.jpg">    </p:cNvPr>
          <p:cNvPicPr>
            <a:picLocks noChangeAspect="1"/>
          </p:cNvPicPr>
          <p:nvPr/>
        </p:nvPicPr>
        <p:blipFill>
          <a:blip r:embed="rId1"/>
          <a:stretch>
            <a:fillRect/>
          </a:stretch>
        </p:blipFill>
        <p:spPr>
          <a:xfrm>
            <a:off x="7645392" y="457200"/>
            <a:ext cx="4134823" cy="5394960"/>
          </a:xfrm>
          <a:prstGeom prst="rect">
            <a:avLst/>
          </a:prstGeom>
        </p:spPr>
      </p:pic>
      <p:sp>
        <p:nvSpPr>
          <p:cNvPr id="3" name="text"/>
          <p:cNvSpPr txBox="1"/>
          <p:nvPr/>
        </p:nvSpPr>
        <p:spPr>
          <a:xfrm>
            <a:off x="914400" y="502920"/>
            <a:ext cx="658368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1993 · WIRED</a:t>
            </a:r>
            <a:endParaRPr lang="en-US" sz="1800" dirty="0"/>
          </a:p>
          <a:p>
            <a:pPr algn="l" indent="0" marL="0">
              <a:lnSpc>
                <a:spcPct val="92000"/>
              </a:lnSpc>
              <a:spcBef>
                <a:spcPts val="810"/>
              </a:spcBef>
              <a:buNone/>
            </a:pPr>
            <a:r>
              <a:rPr lang="en-US" sz="5600" b="1" dirty="0">
                <a:solidFill>
                  <a:srgbClr val="FFFFFF"/>
                </a:solidFill>
                <a:latin typeface="Helvetica Neue" pitchFamily="34" charset="0"/>
                <a:ea typeface="Helvetica Neue" pitchFamily="34" charset="-122"/>
                <a:cs typeface="Helvetica Neue" pitchFamily="34" charset="-120"/>
              </a:rPr>
              <a:t>The crypto rebels</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The Cypherpunks: privacy</a:t>
            </a:r>
            <a:pPr indent="0" marL="0">
              <a:buNone/>
            </a:pPr>
            <a:r>
              <a:rPr lang="en-US" sz="2600" dirty="0">
                <a:solidFill>
                  <a:srgbClr val="F7931A"/>
                </a:solidFill>
                <a:latin typeface="Helvetica Neue Light" pitchFamily="34" charset="0"/>
                <a:ea typeface="Helvetica Neue Light" pitchFamily="34" charset="-122"/>
                <a:cs typeface="Helvetica Neue Light" pitchFamily="34" charset="-120"/>
              </a:rPr>
              <a:t> built</a:t>
            </a:r>
            <a:pPr indent="0" marL="0">
              <a:buNone/>
            </a:pPr>
            <a:r>
              <a:rPr lang="en-US" sz="2600" dirty="0">
                <a:solidFill>
                  <a:srgbClr val="AEAEB2"/>
                </a:solidFill>
                <a:latin typeface="Helvetica Neue Light" pitchFamily="34" charset="0"/>
                <a:ea typeface="Helvetica Neue Light" pitchFamily="34" charset="-122"/>
                <a:cs typeface="Helvetica Neue Light" pitchFamily="34" charset="-120"/>
              </a:rPr>
              <a:t> with</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software, not merely promised by law.</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6085759" y="6140196"/>
            <a:ext cx="118872" cy="118872"/>
          </a:xfrm>
          <a:prstGeom prst="ellipse">
            <a:avLst/>
          </a:prstGeom>
          <a:solidFill>
            <a:srgbClr val="F7931A"/>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III</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The Small</a:t>
            </a:r>
            <a:endParaRPr lang="en-US" sz="1800" dirty="0"/>
          </a:p>
          <a:p>
            <a:pPr algn="l" indent="0" marL="0">
              <a:lnSpc>
                <a:spcPct val="92000"/>
              </a:lnSpc>
              <a:buNone/>
            </a:pPr>
            <a:r>
              <a:rPr lang="en-US" sz="11600" b="1" dirty="0">
                <a:solidFill>
                  <a:srgbClr val="FFFFFF"/>
                </a:solidFill>
                <a:latin typeface="Helvetica Neue" pitchFamily="34" charset="0"/>
                <a:ea typeface="Helvetica Neue" pitchFamily="34" charset="-122"/>
                <a:cs typeface="Helvetica Neue" pitchFamily="34" charset="-120"/>
              </a:rPr>
              <a:t>World</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1996 – 2002</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6836054" y="6199632"/>
            <a:ext cx="1480414" cy="0"/>
          </a:xfrm>
          <a:prstGeom prst="line">
            <a:avLst/>
          </a:prstGeom>
          <a:noFill/>
          <a:ln w="31750">
            <a:solidFill>
              <a:srgbClr val="F7931A"/>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1996 · AGE 40</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PGP becomes</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a career.</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In this world: a younger</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cryptographer named</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Len Sassaman</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6899986" y="6140196"/>
            <a:ext cx="118872" cy="118872"/>
          </a:xfrm>
          <a:prstGeom prst="ellipse">
            <a:avLst/>
          </a:prstGeom>
          <a:solidFill>
            <a:srgbClr val="F7931A"/>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ortrait" descr="/Users/fredkrueger/satoshi/assets/back.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1997</a:t>
            </a:r>
            <a:endParaRPr lang="en-US" sz="1800" dirty="0"/>
          </a:p>
          <a:p>
            <a:pPr algn="l" indent="0" marL="0">
              <a:lnSpc>
                <a:spcPct val="92000"/>
              </a:lnSpc>
              <a:spcBef>
                <a:spcPts val="810"/>
              </a:spcBef>
              <a:buNone/>
            </a:pPr>
            <a:r>
              <a:rPr lang="en-US" sz="9000" b="1" dirty="0">
                <a:solidFill>
                  <a:srgbClr val="FFFFFF"/>
                </a:solidFill>
                <a:latin typeface="Helvetica Neue" pitchFamily="34" charset="0"/>
                <a:ea typeface="Helvetica Neue" pitchFamily="34" charset="-122"/>
                <a:cs typeface="Helvetica Neue" pitchFamily="34" charset="-120"/>
              </a:rPr>
              <a:t>Adam Back</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Hashcash: proof that a computer</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has done work. Built to fight</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spam</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7097375" y="6140196"/>
            <a:ext cx="118872" cy="118872"/>
          </a:xfrm>
          <a:prstGeom prst="ellipse">
            <a:avLst/>
          </a:prstGeom>
          <a:solidFill>
            <a:srgbClr val="F7931A"/>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914400" y="1143000"/>
            <a:ext cx="73152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HASHCASH · 1997</a:t>
            </a:r>
            <a:endParaRPr lang="en-US" sz="1800" dirty="0"/>
          </a:p>
        </p:txBody>
      </p:sp>
      <p:sp>
        <p:nvSpPr>
          <p:cNvPr id="3" name="title"/>
          <p:cNvSpPr txBox="1"/>
          <p:nvPr/>
        </p:nvSpPr>
        <p:spPr>
          <a:xfrm>
            <a:off x="914400" y="1554480"/>
            <a:ext cx="10362895" cy="914400"/>
          </a:xfrm>
          <a:prstGeom prst="rect">
            <a:avLst/>
          </a:prstGeom>
          <a:noFill/>
          <a:ln/>
        </p:spPr>
        <p:txBody>
          <a:bodyPr wrap="square" lIns="0" tIns="0" rIns="0" bIns="0" rtlCol="0" anchor="t"/>
          <a:lstStyle/>
          <a:p>
            <a:pPr algn="l" indent="0" marL="0">
              <a:buNone/>
            </a:pPr>
            <a:r>
              <a:rPr lang="en-US" sz="6400" b="1" dirty="0">
                <a:solidFill>
                  <a:srgbClr val="FFFFFF"/>
                </a:solidFill>
                <a:latin typeface="Helvetica Neue" pitchFamily="34" charset="0"/>
                <a:ea typeface="Helvetica Neue" pitchFamily="34" charset="-122"/>
                <a:cs typeface="Helvetica Neue" pitchFamily="34" charset="-120"/>
              </a:rPr>
              <a:t>Search for a nonce</a:t>
            </a:r>
            <a:endParaRPr lang="en-US" sz="6400" dirty="0"/>
          </a:p>
        </p:txBody>
      </p:sp>
      <p:sp>
        <p:nvSpPr>
          <p:cNvPr id="4" name="row0-nonce"/>
          <p:cNvSpPr txBox="1"/>
          <p:nvPr/>
        </p:nvSpPr>
        <p:spPr>
          <a:xfrm>
            <a:off x="914400" y="288036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001</a:t>
            </a:r>
            <a:endParaRPr lang="en-US" sz="3800" dirty="0"/>
          </a:p>
        </p:txBody>
      </p:sp>
      <p:sp>
        <p:nvSpPr>
          <p:cNvPr id="5" name="row0-fn"/>
          <p:cNvSpPr txBox="1"/>
          <p:nvPr/>
        </p:nvSpPr>
        <p:spPr>
          <a:xfrm>
            <a:off x="4160520" y="288036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6" name="row0-hash"/>
          <p:cNvSpPr txBox="1"/>
          <p:nvPr/>
        </p:nvSpPr>
        <p:spPr>
          <a:xfrm>
            <a:off x="6720840" y="2880360"/>
            <a:ext cx="3291840" cy="548640"/>
          </a:xfrm>
          <a:prstGeom prst="rect">
            <a:avLst/>
          </a:prstGeom>
          <a:noFill/>
          <a:ln/>
        </p:spPr>
        <p:txBody>
          <a:bodyPr wrap="square" lIns="0" tIns="0" rIns="0" bIns="0" rtlCol="0" anchor="t"/>
          <a:lstStyle/>
          <a:p>
            <a:pPr algn="l" indent="0" marL="0">
              <a:buNone/>
            </a:pPr>
            <a:r>
              <a:rPr lang="en-US" sz="3800" dirty="0">
                <a:solidFill>
                  <a:srgbClr val="FFFFFF"/>
                </a:solidFill>
                <a:latin typeface="Menlo" pitchFamily="34" charset="0"/>
                <a:ea typeface="Menlo" pitchFamily="34" charset="-122"/>
                <a:cs typeface="Menlo" pitchFamily="34" charset="-120"/>
              </a:rPr>
              <a:t>a91e52f8…</a:t>
            </a:r>
            <a:endParaRPr lang="en-US" sz="3800" dirty="0"/>
          </a:p>
        </p:txBody>
      </p:sp>
      <p:sp>
        <p:nvSpPr>
          <p:cNvPr id="7" name="row0-mark"/>
          <p:cNvSpPr txBox="1"/>
          <p:nvPr/>
        </p:nvSpPr>
        <p:spPr>
          <a:xfrm>
            <a:off x="10515600" y="2880360"/>
            <a:ext cx="731520" cy="548640"/>
          </a:xfrm>
          <a:prstGeom prst="rect">
            <a:avLst/>
          </a:prstGeom>
          <a:noFill/>
          <a:ln/>
        </p:spPr>
        <p:txBody>
          <a:bodyPr wrap="square" lIns="0" tIns="0" rIns="0" bIns="0" rtlCol="0" anchor="t"/>
          <a:lstStyle/>
          <a:p>
            <a:pPr algn="r" indent="0" marL="0">
              <a:buNone/>
            </a:pPr>
            <a:r>
              <a:rPr lang="en-US" sz="3800" dirty="0">
                <a:solidFill>
                  <a:srgbClr val="48484A"/>
                </a:solidFill>
                <a:latin typeface="Menlo" pitchFamily="34" charset="0"/>
                <a:ea typeface="Menlo" pitchFamily="34" charset="-122"/>
                <a:cs typeface="Menlo" pitchFamily="34" charset="-120"/>
              </a:rPr>
              <a:t>×</a:t>
            </a:r>
            <a:endParaRPr lang="en-US" sz="3800" dirty="0"/>
          </a:p>
        </p:txBody>
      </p:sp>
      <p:sp>
        <p:nvSpPr>
          <p:cNvPr id="8" name="timeline"/>
          <p:cNvSpPr/>
          <p:nvPr/>
        </p:nvSpPr>
        <p:spPr>
          <a:xfrm>
            <a:off x="914400" y="6199632"/>
            <a:ext cx="10362895" cy="0"/>
          </a:xfrm>
          <a:prstGeom prst="line">
            <a:avLst/>
          </a:prstGeom>
          <a:noFill/>
          <a:ln w="12700">
            <a:solidFill>
              <a:srgbClr val="2C2C2E"/>
            </a:solidFill>
            <a:prstDash val="solid"/>
          </a:ln>
        </p:spPr>
      </p:sp>
      <p:sp>
        <p:nvSpPr>
          <p:cNvPr id="9"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10"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11" name="timeline-now"/>
          <p:cNvSpPr/>
          <p:nvPr/>
        </p:nvSpPr>
        <p:spPr>
          <a:xfrm>
            <a:off x="7097375" y="6140196"/>
            <a:ext cx="118872" cy="118872"/>
          </a:xfrm>
          <a:prstGeom prst="ellipse">
            <a:avLst/>
          </a:prstGeom>
          <a:solidFill>
            <a:srgbClr val="F7931A"/>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914400" y="1143000"/>
            <a:ext cx="73152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HASHCASH · 1997</a:t>
            </a:r>
            <a:endParaRPr lang="en-US" sz="1800" dirty="0"/>
          </a:p>
        </p:txBody>
      </p:sp>
      <p:sp>
        <p:nvSpPr>
          <p:cNvPr id="3" name="title"/>
          <p:cNvSpPr txBox="1"/>
          <p:nvPr/>
        </p:nvSpPr>
        <p:spPr>
          <a:xfrm>
            <a:off x="914400" y="1554480"/>
            <a:ext cx="10362895" cy="914400"/>
          </a:xfrm>
          <a:prstGeom prst="rect">
            <a:avLst/>
          </a:prstGeom>
          <a:noFill/>
          <a:ln/>
        </p:spPr>
        <p:txBody>
          <a:bodyPr wrap="square" lIns="0" tIns="0" rIns="0" bIns="0" rtlCol="0" anchor="t"/>
          <a:lstStyle/>
          <a:p>
            <a:pPr algn="l" indent="0" marL="0">
              <a:buNone/>
            </a:pPr>
            <a:r>
              <a:rPr lang="en-US" sz="6400" b="1" dirty="0">
                <a:solidFill>
                  <a:srgbClr val="FFFFFF"/>
                </a:solidFill>
                <a:latin typeface="Helvetica Neue" pitchFamily="34" charset="0"/>
                <a:ea typeface="Helvetica Neue" pitchFamily="34" charset="-122"/>
                <a:cs typeface="Helvetica Neue" pitchFamily="34" charset="-120"/>
              </a:rPr>
              <a:t>Search for a nonce</a:t>
            </a:r>
            <a:endParaRPr lang="en-US" sz="6400" dirty="0"/>
          </a:p>
        </p:txBody>
      </p:sp>
      <p:sp>
        <p:nvSpPr>
          <p:cNvPr id="4" name="row0-nonce"/>
          <p:cNvSpPr txBox="1"/>
          <p:nvPr/>
        </p:nvSpPr>
        <p:spPr>
          <a:xfrm>
            <a:off x="914400" y="288036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001</a:t>
            </a:r>
            <a:endParaRPr lang="en-US" sz="3800" dirty="0"/>
          </a:p>
        </p:txBody>
      </p:sp>
      <p:sp>
        <p:nvSpPr>
          <p:cNvPr id="5" name="row0-fn"/>
          <p:cNvSpPr txBox="1"/>
          <p:nvPr/>
        </p:nvSpPr>
        <p:spPr>
          <a:xfrm>
            <a:off x="4160520" y="288036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6" name="row0-hash"/>
          <p:cNvSpPr txBox="1"/>
          <p:nvPr/>
        </p:nvSpPr>
        <p:spPr>
          <a:xfrm>
            <a:off x="6720840" y="2880360"/>
            <a:ext cx="3291840" cy="548640"/>
          </a:xfrm>
          <a:prstGeom prst="rect">
            <a:avLst/>
          </a:prstGeom>
          <a:noFill/>
          <a:ln/>
        </p:spPr>
        <p:txBody>
          <a:bodyPr wrap="square" lIns="0" tIns="0" rIns="0" bIns="0" rtlCol="0" anchor="t"/>
          <a:lstStyle/>
          <a:p>
            <a:pPr algn="l" indent="0" marL="0">
              <a:buNone/>
            </a:pPr>
            <a:r>
              <a:rPr lang="en-US" sz="3800" dirty="0">
                <a:solidFill>
                  <a:srgbClr val="FFFFFF"/>
                </a:solidFill>
                <a:latin typeface="Menlo" pitchFamily="34" charset="0"/>
                <a:ea typeface="Menlo" pitchFamily="34" charset="-122"/>
                <a:cs typeface="Menlo" pitchFamily="34" charset="-120"/>
              </a:rPr>
              <a:t>a91e52f8…</a:t>
            </a:r>
            <a:endParaRPr lang="en-US" sz="3800" dirty="0"/>
          </a:p>
        </p:txBody>
      </p:sp>
      <p:sp>
        <p:nvSpPr>
          <p:cNvPr id="7" name="row0-mark"/>
          <p:cNvSpPr txBox="1"/>
          <p:nvPr/>
        </p:nvSpPr>
        <p:spPr>
          <a:xfrm>
            <a:off x="10515600" y="2880360"/>
            <a:ext cx="731520" cy="548640"/>
          </a:xfrm>
          <a:prstGeom prst="rect">
            <a:avLst/>
          </a:prstGeom>
          <a:noFill/>
          <a:ln/>
        </p:spPr>
        <p:txBody>
          <a:bodyPr wrap="square" lIns="0" tIns="0" rIns="0" bIns="0" rtlCol="0" anchor="t"/>
          <a:lstStyle/>
          <a:p>
            <a:pPr algn="r" indent="0" marL="0">
              <a:buNone/>
            </a:pPr>
            <a:r>
              <a:rPr lang="en-US" sz="3800" dirty="0">
                <a:solidFill>
                  <a:srgbClr val="48484A"/>
                </a:solidFill>
                <a:latin typeface="Menlo" pitchFamily="34" charset="0"/>
                <a:ea typeface="Menlo" pitchFamily="34" charset="-122"/>
                <a:cs typeface="Menlo" pitchFamily="34" charset="-120"/>
              </a:rPr>
              <a:t>×</a:t>
            </a:r>
            <a:endParaRPr lang="en-US" sz="3800" dirty="0"/>
          </a:p>
        </p:txBody>
      </p:sp>
      <p:sp>
        <p:nvSpPr>
          <p:cNvPr id="8" name="row1-nonce"/>
          <p:cNvSpPr txBox="1"/>
          <p:nvPr/>
        </p:nvSpPr>
        <p:spPr>
          <a:xfrm>
            <a:off x="914400" y="365760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002</a:t>
            </a:r>
            <a:endParaRPr lang="en-US" sz="3800" dirty="0"/>
          </a:p>
        </p:txBody>
      </p:sp>
      <p:sp>
        <p:nvSpPr>
          <p:cNvPr id="9" name="row1-fn"/>
          <p:cNvSpPr txBox="1"/>
          <p:nvPr/>
        </p:nvSpPr>
        <p:spPr>
          <a:xfrm>
            <a:off x="4160520" y="365760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10" name="row1-hash"/>
          <p:cNvSpPr txBox="1"/>
          <p:nvPr/>
        </p:nvSpPr>
        <p:spPr>
          <a:xfrm>
            <a:off x="6720840" y="3657600"/>
            <a:ext cx="3291840" cy="548640"/>
          </a:xfrm>
          <a:prstGeom prst="rect">
            <a:avLst/>
          </a:prstGeom>
          <a:noFill/>
          <a:ln/>
        </p:spPr>
        <p:txBody>
          <a:bodyPr wrap="square" lIns="0" tIns="0" rIns="0" bIns="0" rtlCol="0" anchor="t"/>
          <a:lstStyle/>
          <a:p>
            <a:pPr algn="l" indent="0" marL="0">
              <a:buNone/>
            </a:pPr>
            <a:r>
              <a:rPr lang="en-US" sz="3800" dirty="0">
                <a:solidFill>
                  <a:srgbClr val="FFFFFF"/>
                </a:solidFill>
                <a:latin typeface="Menlo" pitchFamily="34" charset="0"/>
                <a:ea typeface="Menlo" pitchFamily="34" charset="-122"/>
                <a:cs typeface="Menlo" pitchFamily="34" charset="-120"/>
              </a:rPr>
              <a:t>7b31ca09…</a:t>
            </a:r>
            <a:endParaRPr lang="en-US" sz="3800" dirty="0"/>
          </a:p>
        </p:txBody>
      </p:sp>
      <p:sp>
        <p:nvSpPr>
          <p:cNvPr id="11" name="row1-mark"/>
          <p:cNvSpPr txBox="1"/>
          <p:nvPr/>
        </p:nvSpPr>
        <p:spPr>
          <a:xfrm>
            <a:off x="10515600" y="3657600"/>
            <a:ext cx="731520" cy="548640"/>
          </a:xfrm>
          <a:prstGeom prst="rect">
            <a:avLst/>
          </a:prstGeom>
          <a:noFill/>
          <a:ln/>
        </p:spPr>
        <p:txBody>
          <a:bodyPr wrap="square" lIns="0" tIns="0" rIns="0" bIns="0" rtlCol="0" anchor="t"/>
          <a:lstStyle/>
          <a:p>
            <a:pPr algn="r" indent="0" marL="0">
              <a:buNone/>
            </a:pPr>
            <a:r>
              <a:rPr lang="en-US" sz="3800" dirty="0">
                <a:solidFill>
                  <a:srgbClr val="48484A"/>
                </a:solidFill>
                <a:latin typeface="Menlo" pitchFamily="34" charset="0"/>
                <a:ea typeface="Menlo" pitchFamily="34" charset="-122"/>
                <a:cs typeface="Menlo" pitchFamily="34" charset="-120"/>
              </a:rPr>
              <a:t>×</a:t>
            </a:r>
            <a:endParaRPr lang="en-US" sz="3800" dirty="0"/>
          </a:p>
        </p:txBody>
      </p:sp>
      <p:sp>
        <p:nvSpPr>
          <p:cNvPr id="12" name="timeline"/>
          <p:cNvSpPr/>
          <p:nvPr/>
        </p:nvSpPr>
        <p:spPr>
          <a:xfrm>
            <a:off x="914400" y="6199632"/>
            <a:ext cx="10362895" cy="0"/>
          </a:xfrm>
          <a:prstGeom prst="line">
            <a:avLst/>
          </a:prstGeom>
          <a:noFill/>
          <a:ln w="12700">
            <a:solidFill>
              <a:srgbClr val="2C2C2E"/>
            </a:solidFill>
            <a:prstDash val="solid"/>
          </a:ln>
        </p:spPr>
      </p:sp>
      <p:sp>
        <p:nvSpPr>
          <p:cNvPr id="13"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14"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15" name="timeline-now"/>
          <p:cNvSpPr/>
          <p:nvPr/>
        </p:nvSpPr>
        <p:spPr>
          <a:xfrm>
            <a:off x="7097375" y="6140196"/>
            <a:ext cx="118872" cy="118872"/>
          </a:xfrm>
          <a:prstGeom prst="ellipse">
            <a:avLst/>
          </a:prstGeom>
          <a:solidFill>
            <a:srgbClr val="F7931A"/>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914400" y="1143000"/>
            <a:ext cx="73152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HASHCASH · 1997</a:t>
            </a:r>
            <a:endParaRPr lang="en-US" sz="1800" dirty="0"/>
          </a:p>
        </p:txBody>
      </p:sp>
      <p:sp>
        <p:nvSpPr>
          <p:cNvPr id="3" name="title"/>
          <p:cNvSpPr txBox="1"/>
          <p:nvPr/>
        </p:nvSpPr>
        <p:spPr>
          <a:xfrm>
            <a:off x="914400" y="1554480"/>
            <a:ext cx="10362895" cy="914400"/>
          </a:xfrm>
          <a:prstGeom prst="rect">
            <a:avLst/>
          </a:prstGeom>
          <a:noFill/>
          <a:ln/>
        </p:spPr>
        <p:txBody>
          <a:bodyPr wrap="square" lIns="0" tIns="0" rIns="0" bIns="0" rtlCol="0" anchor="t"/>
          <a:lstStyle/>
          <a:p>
            <a:pPr algn="l" indent="0" marL="0">
              <a:buNone/>
            </a:pPr>
            <a:r>
              <a:rPr lang="en-US" sz="6400" b="1" dirty="0">
                <a:solidFill>
                  <a:srgbClr val="FFFFFF"/>
                </a:solidFill>
                <a:latin typeface="Helvetica Neue" pitchFamily="34" charset="0"/>
                <a:ea typeface="Helvetica Neue" pitchFamily="34" charset="-122"/>
                <a:cs typeface="Helvetica Neue" pitchFamily="34" charset="-120"/>
              </a:rPr>
              <a:t>Search for a nonce</a:t>
            </a:r>
            <a:endParaRPr lang="en-US" sz="6400" dirty="0"/>
          </a:p>
        </p:txBody>
      </p:sp>
      <p:sp>
        <p:nvSpPr>
          <p:cNvPr id="4" name="row0-nonce"/>
          <p:cNvSpPr txBox="1"/>
          <p:nvPr/>
        </p:nvSpPr>
        <p:spPr>
          <a:xfrm>
            <a:off x="914400" y="288036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001</a:t>
            </a:r>
            <a:endParaRPr lang="en-US" sz="3800" dirty="0"/>
          </a:p>
        </p:txBody>
      </p:sp>
      <p:sp>
        <p:nvSpPr>
          <p:cNvPr id="5" name="row0-fn"/>
          <p:cNvSpPr txBox="1"/>
          <p:nvPr/>
        </p:nvSpPr>
        <p:spPr>
          <a:xfrm>
            <a:off x="4160520" y="288036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6" name="row0-hash"/>
          <p:cNvSpPr txBox="1"/>
          <p:nvPr/>
        </p:nvSpPr>
        <p:spPr>
          <a:xfrm>
            <a:off x="6720840" y="2880360"/>
            <a:ext cx="3291840" cy="548640"/>
          </a:xfrm>
          <a:prstGeom prst="rect">
            <a:avLst/>
          </a:prstGeom>
          <a:noFill/>
          <a:ln/>
        </p:spPr>
        <p:txBody>
          <a:bodyPr wrap="square" lIns="0" tIns="0" rIns="0" bIns="0" rtlCol="0" anchor="t"/>
          <a:lstStyle/>
          <a:p>
            <a:pPr algn="l" indent="0" marL="0">
              <a:buNone/>
            </a:pPr>
            <a:r>
              <a:rPr lang="en-US" sz="3800" dirty="0">
                <a:solidFill>
                  <a:srgbClr val="FFFFFF"/>
                </a:solidFill>
                <a:latin typeface="Menlo" pitchFamily="34" charset="0"/>
                <a:ea typeface="Menlo" pitchFamily="34" charset="-122"/>
                <a:cs typeface="Menlo" pitchFamily="34" charset="-120"/>
              </a:rPr>
              <a:t>a91e52f8…</a:t>
            </a:r>
            <a:endParaRPr lang="en-US" sz="3800" dirty="0"/>
          </a:p>
        </p:txBody>
      </p:sp>
      <p:sp>
        <p:nvSpPr>
          <p:cNvPr id="7" name="row0-mark"/>
          <p:cNvSpPr txBox="1"/>
          <p:nvPr/>
        </p:nvSpPr>
        <p:spPr>
          <a:xfrm>
            <a:off x="10515600" y="2880360"/>
            <a:ext cx="731520" cy="548640"/>
          </a:xfrm>
          <a:prstGeom prst="rect">
            <a:avLst/>
          </a:prstGeom>
          <a:noFill/>
          <a:ln/>
        </p:spPr>
        <p:txBody>
          <a:bodyPr wrap="square" lIns="0" tIns="0" rIns="0" bIns="0" rtlCol="0" anchor="t"/>
          <a:lstStyle/>
          <a:p>
            <a:pPr algn="r" indent="0" marL="0">
              <a:buNone/>
            </a:pPr>
            <a:r>
              <a:rPr lang="en-US" sz="3800" dirty="0">
                <a:solidFill>
                  <a:srgbClr val="48484A"/>
                </a:solidFill>
                <a:latin typeface="Menlo" pitchFamily="34" charset="0"/>
                <a:ea typeface="Menlo" pitchFamily="34" charset="-122"/>
                <a:cs typeface="Menlo" pitchFamily="34" charset="-120"/>
              </a:rPr>
              <a:t>×</a:t>
            </a:r>
            <a:endParaRPr lang="en-US" sz="3800" dirty="0"/>
          </a:p>
        </p:txBody>
      </p:sp>
      <p:sp>
        <p:nvSpPr>
          <p:cNvPr id="8" name="row1-nonce"/>
          <p:cNvSpPr txBox="1"/>
          <p:nvPr/>
        </p:nvSpPr>
        <p:spPr>
          <a:xfrm>
            <a:off x="914400" y="365760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002</a:t>
            </a:r>
            <a:endParaRPr lang="en-US" sz="3800" dirty="0"/>
          </a:p>
        </p:txBody>
      </p:sp>
      <p:sp>
        <p:nvSpPr>
          <p:cNvPr id="9" name="row1-fn"/>
          <p:cNvSpPr txBox="1"/>
          <p:nvPr/>
        </p:nvSpPr>
        <p:spPr>
          <a:xfrm>
            <a:off x="4160520" y="365760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10" name="row1-hash"/>
          <p:cNvSpPr txBox="1"/>
          <p:nvPr/>
        </p:nvSpPr>
        <p:spPr>
          <a:xfrm>
            <a:off x="6720840" y="3657600"/>
            <a:ext cx="3291840" cy="548640"/>
          </a:xfrm>
          <a:prstGeom prst="rect">
            <a:avLst/>
          </a:prstGeom>
          <a:noFill/>
          <a:ln/>
        </p:spPr>
        <p:txBody>
          <a:bodyPr wrap="square" lIns="0" tIns="0" rIns="0" bIns="0" rtlCol="0" anchor="t"/>
          <a:lstStyle/>
          <a:p>
            <a:pPr algn="l" indent="0" marL="0">
              <a:buNone/>
            </a:pPr>
            <a:r>
              <a:rPr lang="en-US" sz="3800" dirty="0">
                <a:solidFill>
                  <a:srgbClr val="FFFFFF"/>
                </a:solidFill>
                <a:latin typeface="Menlo" pitchFamily="34" charset="0"/>
                <a:ea typeface="Menlo" pitchFamily="34" charset="-122"/>
                <a:cs typeface="Menlo" pitchFamily="34" charset="-120"/>
              </a:rPr>
              <a:t>7b31ca09…</a:t>
            </a:r>
            <a:endParaRPr lang="en-US" sz="3800" dirty="0"/>
          </a:p>
        </p:txBody>
      </p:sp>
      <p:sp>
        <p:nvSpPr>
          <p:cNvPr id="11" name="row1-mark"/>
          <p:cNvSpPr txBox="1"/>
          <p:nvPr/>
        </p:nvSpPr>
        <p:spPr>
          <a:xfrm>
            <a:off x="10515600" y="3657600"/>
            <a:ext cx="731520" cy="548640"/>
          </a:xfrm>
          <a:prstGeom prst="rect">
            <a:avLst/>
          </a:prstGeom>
          <a:noFill/>
          <a:ln/>
        </p:spPr>
        <p:txBody>
          <a:bodyPr wrap="square" lIns="0" tIns="0" rIns="0" bIns="0" rtlCol="0" anchor="t"/>
          <a:lstStyle/>
          <a:p>
            <a:pPr algn="r" indent="0" marL="0">
              <a:buNone/>
            </a:pPr>
            <a:r>
              <a:rPr lang="en-US" sz="3800" dirty="0">
                <a:solidFill>
                  <a:srgbClr val="48484A"/>
                </a:solidFill>
                <a:latin typeface="Menlo" pitchFamily="34" charset="0"/>
                <a:ea typeface="Menlo" pitchFamily="34" charset="-122"/>
                <a:cs typeface="Menlo" pitchFamily="34" charset="-120"/>
              </a:rPr>
              <a:t>×</a:t>
            </a:r>
            <a:endParaRPr lang="en-US" sz="3800" dirty="0"/>
          </a:p>
        </p:txBody>
      </p:sp>
      <p:sp>
        <p:nvSpPr>
          <p:cNvPr id="12" name="row2-nonce"/>
          <p:cNvSpPr txBox="1"/>
          <p:nvPr/>
        </p:nvSpPr>
        <p:spPr>
          <a:xfrm>
            <a:off x="914400" y="4434840"/>
            <a:ext cx="3108960" cy="548640"/>
          </a:xfrm>
          <a:prstGeom prst="rect">
            <a:avLst/>
          </a:prstGeom>
          <a:noFill/>
          <a:ln/>
        </p:spPr>
        <p:txBody>
          <a:bodyPr wrap="square" lIns="0" tIns="0" rIns="0" bIns="0" rtlCol="0" anchor="t"/>
          <a:lstStyle/>
          <a:p>
            <a:pPr algn="l" indent="0" marL="0">
              <a:buNone/>
            </a:pPr>
            <a:r>
              <a:rPr lang="en-US" sz="3800" dirty="0">
                <a:solidFill>
                  <a:srgbClr val="8E8E93"/>
                </a:solidFill>
                <a:latin typeface="Menlo" pitchFamily="34" charset="0"/>
                <a:ea typeface="Menlo" pitchFamily="34" charset="-122"/>
                <a:cs typeface="Menlo" pitchFamily="34" charset="-120"/>
              </a:rPr>
              <a:t>nonce 003</a:t>
            </a:r>
            <a:endParaRPr lang="en-US" sz="3800" dirty="0"/>
          </a:p>
        </p:txBody>
      </p:sp>
      <p:sp>
        <p:nvSpPr>
          <p:cNvPr id="13" name="row2-fn"/>
          <p:cNvSpPr txBox="1"/>
          <p:nvPr/>
        </p:nvSpPr>
        <p:spPr>
          <a:xfrm>
            <a:off x="4160520" y="4434840"/>
            <a:ext cx="2377440" cy="548640"/>
          </a:xfrm>
          <a:prstGeom prst="rect">
            <a:avLst/>
          </a:prstGeom>
          <a:noFill/>
          <a:ln/>
        </p:spPr>
        <p:txBody>
          <a:bodyPr wrap="square" lIns="0" tIns="0" rIns="0" bIns="0" rtlCol="0" anchor="t"/>
          <a:lstStyle/>
          <a:p>
            <a:pPr algn="l" indent="0" marL="0">
              <a:buNone/>
            </a:pPr>
            <a:r>
              <a:rPr lang="en-US" sz="3800" dirty="0">
                <a:solidFill>
                  <a:srgbClr val="48484A"/>
                </a:solidFill>
                <a:latin typeface="Menlo" pitchFamily="34" charset="0"/>
                <a:ea typeface="Menlo" pitchFamily="34" charset="-122"/>
                <a:cs typeface="Menlo" pitchFamily="34" charset="-120"/>
              </a:rPr>
              <a:t>SHA-1 →</a:t>
            </a:r>
            <a:endParaRPr lang="en-US" sz="3800" dirty="0"/>
          </a:p>
        </p:txBody>
      </p:sp>
      <p:sp>
        <p:nvSpPr>
          <p:cNvPr id="14" name="row2-hash"/>
          <p:cNvSpPr txBox="1"/>
          <p:nvPr/>
        </p:nvSpPr>
        <p:spPr>
          <a:xfrm>
            <a:off x="6720840" y="4434840"/>
            <a:ext cx="3291840" cy="548640"/>
          </a:xfrm>
          <a:prstGeom prst="rect">
            <a:avLst/>
          </a:prstGeom>
          <a:noFill/>
          <a:ln/>
        </p:spPr>
        <p:txBody>
          <a:bodyPr wrap="square" lIns="0" tIns="0" rIns="0" bIns="0" rtlCol="0" anchor="t"/>
          <a:lstStyle/>
          <a:p>
            <a:pPr algn="l" indent="0" marL="0">
              <a:buNone/>
            </a:pPr>
            <a:r>
              <a:rPr lang="en-US" sz="3800" b="1" dirty="0">
                <a:solidFill>
                  <a:srgbClr val="F7931A"/>
                </a:solidFill>
                <a:latin typeface="Menlo" pitchFamily="34" charset="0"/>
                <a:ea typeface="Menlo" pitchFamily="34" charset="-122"/>
                <a:cs typeface="Menlo" pitchFamily="34" charset="-120"/>
              </a:rPr>
              <a:t>0000ab72…</a:t>
            </a:r>
            <a:endParaRPr lang="en-US" sz="3800" dirty="0"/>
          </a:p>
        </p:txBody>
      </p:sp>
      <p:sp>
        <p:nvSpPr>
          <p:cNvPr id="15" name="row2-mark"/>
          <p:cNvSpPr txBox="1"/>
          <p:nvPr/>
        </p:nvSpPr>
        <p:spPr>
          <a:xfrm>
            <a:off x="10515600" y="4434840"/>
            <a:ext cx="731520" cy="548640"/>
          </a:xfrm>
          <a:prstGeom prst="rect">
            <a:avLst/>
          </a:prstGeom>
          <a:noFill/>
          <a:ln/>
        </p:spPr>
        <p:txBody>
          <a:bodyPr wrap="square" lIns="0" tIns="0" rIns="0" bIns="0" rtlCol="0" anchor="t"/>
          <a:lstStyle/>
          <a:p>
            <a:pPr algn="r" indent="0" marL="0">
              <a:buNone/>
            </a:pPr>
            <a:r>
              <a:rPr lang="en-US" sz="3800" dirty="0">
                <a:solidFill>
                  <a:srgbClr val="F7931A"/>
                </a:solidFill>
                <a:latin typeface="Menlo" pitchFamily="34" charset="0"/>
                <a:ea typeface="Menlo" pitchFamily="34" charset="-122"/>
                <a:cs typeface="Menlo" pitchFamily="34" charset="-120"/>
              </a:rPr>
              <a:t>✓</a:t>
            </a:r>
            <a:endParaRPr lang="en-US" sz="3800" dirty="0"/>
          </a:p>
        </p:txBody>
      </p:sp>
      <p:sp>
        <p:nvSpPr>
          <p:cNvPr id="16" name="sub"/>
          <p:cNvSpPr txBox="1"/>
          <p:nvPr/>
        </p:nvSpPr>
        <p:spPr>
          <a:xfrm>
            <a:off x="914400" y="5257800"/>
            <a:ext cx="10911535" cy="548640"/>
          </a:xfrm>
          <a:prstGeom prst="rect">
            <a:avLst/>
          </a:prstGeom>
          <a:noFill/>
          <a:ln/>
        </p:spPr>
        <p:txBody>
          <a:bodyPr wrap="square" lIns="0" tIns="0" rIns="0" bIns="0" rtlCol="0" anchor="t"/>
          <a:lstStyle/>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Millions of attempts to find.</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One</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 to verify.</a:t>
            </a:r>
            <a:endParaRPr lang="en-US" sz="3000" dirty="0"/>
          </a:p>
        </p:txBody>
      </p:sp>
      <p:sp>
        <p:nvSpPr>
          <p:cNvPr id="17" name="timeline"/>
          <p:cNvSpPr/>
          <p:nvPr/>
        </p:nvSpPr>
        <p:spPr>
          <a:xfrm>
            <a:off x="914400" y="6199632"/>
            <a:ext cx="10362895" cy="0"/>
          </a:xfrm>
          <a:prstGeom prst="line">
            <a:avLst/>
          </a:prstGeom>
          <a:noFill/>
          <a:ln w="12700">
            <a:solidFill>
              <a:srgbClr val="2C2C2E"/>
            </a:solidFill>
            <a:prstDash val="solid"/>
          </a:ln>
        </p:spPr>
      </p:sp>
      <p:sp>
        <p:nvSpPr>
          <p:cNvPr id="18"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19"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20" name="timeline-now"/>
          <p:cNvSpPr/>
          <p:nvPr/>
        </p:nvSpPr>
        <p:spPr>
          <a:xfrm>
            <a:off x="7097375" y="6140196"/>
            <a:ext cx="118872" cy="118872"/>
          </a:xfrm>
          <a:prstGeom prst="ellipse">
            <a:avLst/>
          </a:prstGeom>
          <a:solidFill>
            <a:srgbClr val="F7931A"/>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portrait"/>
          <p:cNvSpPr/>
          <p:nvPr/>
        </p:nvSpPr>
        <p:spPr>
          <a:xfrm>
            <a:off x="914400" y="1668780"/>
            <a:ext cx="3017520" cy="3017520"/>
          </a:xfrm>
          <a:prstGeom prst="ellipse">
            <a:avLst/>
          </a:prstGeom>
          <a:ln w="19050">
            <a:solidFill>
              <a:srgbClr val="48484A"/>
            </a:solidFill>
            <a:prstDash val="dash"/>
          </a:ln>
        </p:spPr>
      </p:sp>
      <p:sp>
        <p:nvSpPr>
          <p:cNvPr id="3" name="portrait-note"/>
          <p:cNvSpPr txBox="1"/>
          <p:nvPr/>
        </p:nvSpPr>
        <p:spPr>
          <a:xfrm>
            <a:off x="914400" y="1668780"/>
            <a:ext cx="3017520" cy="3017520"/>
          </a:xfrm>
          <a:prstGeom prst="rect">
            <a:avLst/>
          </a:prstGeom>
          <a:noFill/>
          <a:ln/>
        </p:spPr>
        <p:txBody>
          <a:bodyPr wrap="square" lIns="0" tIns="0" rIns="0" bIns="0" rtlCol="0" anchor="ctr"/>
          <a:lstStyle/>
          <a:p>
            <a:pPr algn="ctr" indent="0" marL="0">
              <a:buNone/>
            </a:pPr>
            <a:r>
              <a:rPr lang="en-US" sz="1600" dirty="0">
                <a:solidFill>
                  <a:srgbClr val="8E8E93"/>
                </a:solidFill>
                <a:latin typeface="Helvetica Neue Light" pitchFamily="34" charset="0"/>
                <a:ea typeface="Helvetica Neue Light" pitchFamily="34" charset="-122"/>
                <a:cs typeface="Helvetica Neue Light" pitchFamily="34" charset="-120"/>
              </a:rPr>
              <a:t>No verified</a:t>
            </a:r>
            <a:endParaRPr lang="en-US" sz="1600" dirty="0"/>
          </a:p>
          <a:p>
            <a:pPr algn="ctr" indent="0" marL="0">
              <a:buNone/>
            </a:pPr>
            <a:r>
              <a:rPr lang="en-US" sz="1600" dirty="0">
                <a:solidFill>
                  <a:srgbClr val="8E8E93"/>
                </a:solidFill>
                <a:latin typeface="Helvetica Neue Light" pitchFamily="34" charset="0"/>
                <a:ea typeface="Helvetica Neue Light" pitchFamily="34" charset="-122"/>
                <a:cs typeface="Helvetica Neue Light" pitchFamily="34" charset="-120"/>
              </a:rPr>
              <a:t>public photograph</a:t>
            </a:r>
            <a:endParaRPr lang="en-US" sz="1600" dirty="0"/>
          </a:p>
        </p:txBody>
      </p:sp>
      <p:sp>
        <p:nvSpPr>
          <p:cNvPr id="4"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1998</a:t>
            </a:r>
            <a:endParaRPr lang="en-US" sz="1800" dirty="0"/>
          </a:p>
          <a:p>
            <a:pPr algn="l" indent="0" marL="0">
              <a:lnSpc>
                <a:spcPct val="92000"/>
              </a:lnSpc>
              <a:spcBef>
                <a:spcPts val="810"/>
              </a:spcBef>
              <a:buNone/>
            </a:pPr>
            <a:r>
              <a:rPr lang="en-US" sz="9600" b="1" dirty="0">
                <a:solidFill>
                  <a:srgbClr val="FFFFFF"/>
                </a:solidFill>
                <a:latin typeface="Helvetica Neue" pitchFamily="34" charset="0"/>
                <a:ea typeface="Helvetica Neue" pitchFamily="34" charset="-122"/>
                <a:cs typeface="Helvetica Neue" pitchFamily="34" charset="-120"/>
              </a:rPr>
              <a:t>Wei Dai</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Creator of Crypto++.</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Proposed</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b-money</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5" name="timeline"/>
          <p:cNvSpPr/>
          <p:nvPr/>
        </p:nvSpPr>
        <p:spPr>
          <a:xfrm>
            <a:off x="914400" y="6199632"/>
            <a:ext cx="10362895" cy="0"/>
          </a:xfrm>
          <a:prstGeom prst="line">
            <a:avLst/>
          </a:prstGeom>
          <a:noFill/>
          <a:ln w="12700">
            <a:solidFill>
              <a:srgbClr val="2C2C2E"/>
            </a:solidFill>
            <a:prstDash val="solid"/>
          </a:ln>
        </p:spPr>
      </p:sp>
      <p:sp>
        <p:nvSpPr>
          <p:cNvPr id="6"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7"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8" name="timeline-now"/>
          <p:cNvSpPr/>
          <p:nvPr/>
        </p:nvSpPr>
        <p:spPr>
          <a:xfrm>
            <a:off x="7492152" y="6140196"/>
            <a:ext cx="118872" cy="118872"/>
          </a:xfrm>
          <a:prstGeom prst="ellipse">
            <a:avLst/>
          </a:prstGeom>
          <a:solidFill>
            <a:srgbClr val="F7931A"/>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hoto" descr="/Users/fredkrueger/satoshi/assets/b-money.jpg">    </p:cNvPr>
          <p:cNvPicPr>
            <a:picLocks noChangeAspect="1"/>
          </p:cNvPicPr>
          <p:nvPr/>
        </p:nvPicPr>
        <p:blipFill>
          <a:blip r:embed="rId1"/>
          <a:stretch>
            <a:fillRect/>
          </a:stretch>
        </p:blipFill>
        <p:spPr>
          <a:xfrm>
            <a:off x="7204344" y="457200"/>
            <a:ext cx="4575871" cy="5394960"/>
          </a:xfrm>
          <a:prstGeom prst="rect">
            <a:avLst/>
          </a:prstGeom>
        </p:spPr>
      </p:pic>
      <p:sp>
        <p:nvSpPr>
          <p:cNvPr id="3" name="text"/>
          <p:cNvSpPr txBox="1"/>
          <p:nvPr/>
        </p:nvSpPr>
        <p:spPr>
          <a:xfrm>
            <a:off x="914400" y="502920"/>
            <a:ext cx="6381384"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1998</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b-money</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Pseudonymous users. Signed transfers.</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Shared records of who owns what.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7492152" y="6140196"/>
            <a:ext cx="118872" cy="118872"/>
          </a:xfrm>
          <a:prstGeom prst="ellipse">
            <a:avLst/>
          </a:prstGeom>
          <a:solidFill>
            <a:srgbClr val="F7931A"/>
          </a:solidFill>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B-MONEY</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But how would</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everyone</a:t>
            </a:r>
            <a:pPr indent="0" marL="0">
              <a:buNone/>
            </a:pPr>
            <a:r>
              <a:rPr lang="en-US" sz="9200" b="1" dirty="0">
                <a:solidFill>
                  <a:srgbClr val="F7931A"/>
                </a:solidFill>
                <a:latin typeface="Helvetica Neue" pitchFamily="34" charset="0"/>
                <a:ea typeface="Helvetica Neue" pitchFamily="34" charset="-122"/>
                <a:cs typeface="Helvetica Neue" pitchFamily="34" charset="-120"/>
              </a:rPr>
              <a:t> agree</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Coordination and reliable</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agreement were left unresolved.</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7492152" y="6140196"/>
            <a:ext cx="118872" cy="118872"/>
          </a:xfrm>
          <a:prstGeom prst="ellipse">
            <a:avLst/>
          </a:prstGeom>
          <a:solidFill>
            <a:srgbClr val="F7931A"/>
          </a:solidFill>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ortrait" descr="/Users/fredkrueger/satoshi/assets/szabo.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1998</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Nick Szabo</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Digital property, contracts, scarcity —</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and</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Bit Gold</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7492152" y="6140196"/>
            <a:ext cx="118872" cy="118872"/>
          </a:xfrm>
          <a:prstGeom prst="ellipse">
            <a:avLst/>
          </a:prstGeom>
          <a:solidFill>
            <a:srgbClr val="F7931A"/>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portrait" descr="/Users/fredkrueger/satoshi/assets/sassaman.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LATE 1990S</a:t>
            </a:r>
            <a:endParaRPr lang="en-US" sz="1800" dirty="0"/>
          </a:p>
          <a:p>
            <a:pPr algn="l" indent="0" marL="0">
              <a:lnSpc>
                <a:spcPct val="92000"/>
              </a:lnSpc>
              <a:spcBef>
                <a:spcPts val="810"/>
              </a:spcBef>
              <a:buNone/>
            </a:pPr>
            <a:r>
              <a:rPr lang="en-US" sz="7200" b="1" dirty="0">
                <a:solidFill>
                  <a:srgbClr val="FFFFFF"/>
                </a:solidFill>
                <a:latin typeface="Helvetica Neue" pitchFamily="34" charset="0"/>
                <a:ea typeface="Helvetica Neue" pitchFamily="34" charset="-122"/>
                <a:cs typeface="Helvetica Neue" pitchFamily="34" charset="-120"/>
              </a:rPr>
              <a:t>Len Sassaman</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Privacy and anonymous messaging.</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He knew</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Hal Finney</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7640193" y="6140196"/>
            <a:ext cx="118872" cy="118872"/>
          </a:xfrm>
          <a:prstGeom prst="ellipse">
            <a:avLst/>
          </a:prstGeom>
          <a:solidFill>
            <a:srgbClr val="F7931A"/>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914400" y="685800"/>
            <a:ext cx="54864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THE SMALL WORLD</a:t>
            </a:r>
            <a:endParaRPr lang="en-US" sz="1800" dirty="0"/>
          </a:p>
        </p:txBody>
      </p:sp>
      <p:sp>
        <p:nvSpPr>
          <p:cNvPr id="3" name="hub"/>
          <p:cNvSpPr txBox="1"/>
          <p:nvPr/>
        </p:nvSpPr>
        <p:spPr>
          <a:xfrm>
            <a:off x="3809848" y="2880360"/>
            <a:ext cx="4572000" cy="731520"/>
          </a:xfrm>
          <a:prstGeom prst="rect">
            <a:avLst/>
          </a:prstGeom>
          <a:noFill/>
          <a:ln/>
        </p:spPr>
        <p:txBody>
          <a:bodyPr wrap="square" lIns="0" tIns="0" rIns="0" bIns="0" rtlCol="0" anchor="ctr"/>
          <a:lstStyle/>
          <a:p>
            <a:pPr algn="ctr" indent="0" marL="0">
              <a:buNone/>
            </a:pPr>
            <a:r>
              <a:rPr lang="en-US" sz="4600" b="1" dirty="0">
                <a:solidFill>
                  <a:srgbClr val="F7931A"/>
                </a:solidFill>
                <a:latin typeface="Helvetica Neue" pitchFamily="34" charset="0"/>
                <a:ea typeface="Helvetica Neue" pitchFamily="34" charset="-122"/>
                <a:cs typeface="Helvetica Neue" pitchFamily="34" charset="-120"/>
              </a:rPr>
              <a:t>Hal Finney</a:t>
            </a:r>
            <a:endParaRPr lang="en-US" sz="46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7763561" y="6140196"/>
            <a:ext cx="118872" cy="118872"/>
          </a:xfrm>
          <a:prstGeom prst="ellipse">
            <a:avLst/>
          </a:prstGeom>
          <a:solidFill>
            <a:srgbClr val="F7931A"/>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914400" y="685800"/>
            <a:ext cx="54864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THE SMALL WORLD</a:t>
            </a:r>
            <a:endParaRPr lang="en-US" sz="1800" dirty="0"/>
          </a:p>
        </p:txBody>
      </p:sp>
      <p:sp>
        <p:nvSpPr>
          <p:cNvPr id="3" name="hub"/>
          <p:cNvSpPr txBox="1"/>
          <p:nvPr/>
        </p:nvSpPr>
        <p:spPr>
          <a:xfrm>
            <a:off x="3809848" y="2880360"/>
            <a:ext cx="4572000" cy="731520"/>
          </a:xfrm>
          <a:prstGeom prst="rect">
            <a:avLst/>
          </a:prstGeom>
          <a:noFill/>
          <a:ln/>
        </p:spPr>
        <p:txBody>
          <a:bodyPr wrap="square" lIns="0" tIns="0" rIns="0" bIns="0" rtlCol="0" anchor="ctr"/>
          <a:lstStyle/>
          <a:p>
            <a:pPr algn="ctr" indent="0" marL="0">
              <a:buNone/>
            </a:pPr>
            <a:r>
              <a:rPr lang="en-US" sz="4600" b="1" dirty="0">
                <a:solidFill>
                  <a:srgbClr val="F7931A"/>
                </a:solidFill>
                <a:latin typeface="Helvetica Neue" pitchFamily="34" charset="0"/>
                <a:ea typeface="Helvetica Neue" pitchFamily="34" charset="-122"/>
                <a:cs typeface="Helvetica Neue" pitchFamily="34" charset="-120"/>
              </a:rPr>
              <a:t>Hal Finney</a:t>
            </a:r>
            <a:endParaRPr lang="en-US" sz="4600" dirty="0"/>
          </a:p>
        </p:txBody>
      </p:sp>
      <p:sp>
        <p:nvSpPr>
          <p:cNvPr id="4" name="link0"/>
          <p:cNvSpPr/>
          <p:nvPr/>
        </p:nvSpPr>
        <p:spPr>
          <a:xfrm>
            <a:off x="6095848" y="2103120"/>
            <a:ext cx="914" cy="731520"/>
          </a:xfrm>
          <a:prstGeom prst="line">
            <a:avLst/>
          </a:prstGeom>
          <a:noFill/>
          <a:ln w="15875">
            <a:solidFill>
              <a:srgbClr val="48484A"/>
            </a:solidFill>
            <a:prstDash val="solid"/>
          </a:ln>
        </p:spPr>
      </p:sp>
      <p:sp>
        <p:nvSpPr>
          <p:cNvPr id="5" name="person0"/>
          <p:cNvSpPr txBox="1"/>
          <p:nvPr/>
        </p:nvSpPr>
        <p:spPr>
          <a:xfrm>
            <a:off x="4267048" y="1033272"/>
            <a:ext cx="365760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Neue" pitchFamily="34" charset="0"/>
                <a:ea typeface="Helvetica Neue" pitchFamily="34" charset="-122"/>
                <a:cs typeface="Helvetica Neue" pitchFamily="34" charset="-120"/>
              </a:rPr>
              <a:t>Wei Dai</a:t>
            </a:r>
            <a:endParaRPr lang="en-US" sz="3200" dirty="0"/>
          </a:p>
        </p:txBody>
      </p:sp>
      <p:sp>
        <p:nvSpPr>
          <p:cNvPr id="6" name="relation0"/>
          <p:cNvSpPr txBox="1"/>
          <p:nvPr/>
        </p:nvSpPr>
        <p:spPr>
          <a:xfrm>
            <a:off x="4267048" y="1563624"/>
            <a:ext cx="3657600" cy="320040"/>
          </a:xfrm>
          <a:prstGeom prst="rect">
            <a:avLst/>
          </a:prstGeom>
          <a:noFill/>
          <a:ln/>
        </p:spPr>
        <p:txBody>
          <a:bodyPr wrap="square" lIns="0" tIns="0" rIns="0" bIns="0" rtlCol="0" anchor="t"/>
          <a:lstStyle/>
          <a:p>
            <a:pPr algn="ctr" indent="0" marL="0">
              <a:buNone/>
            </a:pPr>
            <a:r>
              <a:rPr lang="en-US" sz="1800" dirty="0">
                <a:solidFill>
                  <a:srgbClr val="8E8E93"/>
                </a:solidFill>
                <a:latin typeface="Helvetica Neue Light" pitchFamily="34" charset="0"/>
                <a:ea typeface="Helvetica Neue Light" pitchFamily="34" charset="-122"/>
                <a:cs typeface="Helvetica Neue Light" pitchFamily="34" charset="-120"/>
              </a:rPr>
              <a:t>met and corresponded</a:t>
            </a:r>
            <a:endParaRPr lang="en-US" sz="1800" dirty="0"/>
          </a:p>
        </p:txBody>
      </p:sp>
      <p:sp>
        <p:nvSpPr>
          <p:cNvPr id="7" name="link1"/>
          <p:cNvSpPr/>
          <p:nvPr/>
        </p:nvSpPr>
        <p:spPr>
          <a:xfrm flipV="1">
            <a:off x="7733678" y="2855517"/>
            <a:ext cx="823723" cy="130710"/>
          </a:xfrm>
          <a:prstGeom prst="line">
            <a:avLst/>
          </a:prstGeom>
          <a:noFill/>
          <a:ln w="15875">
            <a:solidFill>
              <a:srgbClr val="48484A"/>
            </a:solidFill>
            <a:prstDash val="solid"/>
          </a:ln>
        </p:spPr>
      </p:sp>
      <p:sp>
        <p:nvSpPr>
          <p:cNvPr id="8" name="person1"/>
          <p:cNvSpPr txBox="1"/>
          <p:nvPr/>
        </p:nvSpPr>
        <p:spPr>
          <a:xfrm>
            <a:off x="8006526" y="2360125"/>
            <a:ext cx="365760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Neue" pitchFamily="34" charset="0"/>
                <a:ea typeface="Helvetica Neue" pitchFamily="34" charset="-122"/>
                <a:cs typeface="Helvetica Neue" pitchFamily="34" charset="-120"/>
              </a:rPr>
              <a:t>Nick Szabo</a:t>
            </a:r>
            <a:endParaRPr lang="en-US" sz="3200" dirty="0"/>
          </a:p>
        </p:txBody>
      </p:sp>
      <p:sp>
        <p:nvSpPr>
          <p:cNvPr id="9" name="relation1"/>
          <p:cNvSpPr txBox="1"/>
          <p:nvPr/>
        </p:nvSpPr>
        <p:spPr>
          <a:xfrm>
            <a:off x="8006526" y="2890477"/>
            <a:ext cx="3657600" cy="320040"/>
          </a:xfrm>
          <a:prstGeom prst="rect">
            <a:avLst/>
          </a:prstGeom>
          <a:noFill/>
          <a:ln/>
        </p:spPr>
        <p:txBody>
          <a:bodyPr wrap="square" lIns="0" tIns="0" rIns="0" bIns="0" rtlCol="0" anchor="t"/>
          <a:lstStyle/>
          <a:p>
            <a:pPr algn="ctr" indent="0" marL="0">
              <a:buNone/>
            </a:pPr>
            <a:r>
              <a:rPr lang="en-US" sz="1800" dirty="0">
                <a:solidFill>
                  <a:srgbClr val="8E8E93"/>
                </a:solidFill>
                <a:latin typeface="Helvetica Neue Light" pitchFamily="34" charset="0"/>
                <a:ea typeface="Helvetica Neue Light" pitchFamily="34" charset="-122"/>
                <a:cs typeface="Helvetica Neue Light" pitchFamily="34" charset="-120"/>
              </a:rPr>
              <a:t>met and corresponded</a:t>
            </a:r>
            <a:endParaRPr lang="en-US" sz="1800" dirty="0"/>
          </a:p>
        </p:txBody>
      </p:sp>
      <p:sp>
        <p:nvSpPr>
          <p:cNvPr id="10" name="link2"/>
          <p:cNvSpPr/>
          <p:nvPr/>
        </p:nvSpPr>
        <p:spPr>
          <a:xfrm>
            <a:off x="6707999" y="3657600"/>
            <a:ext cx="1086822" cy="730547"/>
          </a:xfrm>
          <a:prstGeom prst="line">
            <a:avLst/>
          </a:prstGeom>
          <a:noFill/>
          <a:ln w="15875">
            <a:solidFill>
              <a:srgbClr val="48484A"/>
            </a:solidFill>
            <a:prstDash val="solid"/>
          </a:ln>
        </p:spPr>
      </p:sp>
      <p:sp>
        <p:nvSpPr>
          <p:cNvPr id="11" name="person2"/>
          <p:cNvSpPr txBox="1"/>
          <p:nvPr/>
        </p:nvSpPr>
        <p:spPr>
          <a:xfrm>
            <a:off x="6578172" y="4507019"/>
            <a:ext cx="365760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Neue" pitchFamily="34" charset="0"/>
                <a:ea typeface="Helvetica Neue" pitchFamily="34" charset="-122"/>
                <a:cs typeface="Helvetica Neue" pitchFamily="34" charset="-120"/>
              </a:rPr>
              <a:t>Adam Back</a:t>
            </a:r>
            <a:endParaRPr lang="en-US" sz="3200" dirty="0"/>
          </a:p>
        </p:txBody>
      </p:sp>
      <p:sp>
        <p:nvSpPr>
          <p:cNvPr id="12" name="relation2"/>
          <p:cNvSpPr txBox="1"/>
          <p:nvPr/>
        </p:nvSpPr>
        <p:spPr>
          <a:xfrm>
            <a:off x="6578172" y="5037371"/>
            <a:ext cx="3657600" cy="320040"/>
          </a:xfrm>
          <a:prstGeom prst="rect">
            <a:avLst/>
          </a:prstGeom>
          <a:noFill/>
          <a:ln/>
        </p:spPr>
        <p:txBody>
          <a:bodyPr wrap="square" lIns="0" tIns="0" rIns="0" bIns="0" rtlCol="0" anchor="t"/>
          <a:lstStyle/>
          <a:p>
            <a:pPr algn="ctr" indent="0" marL="0">
              <a:buNone/>
            </a:pPr>
            <a:r>
              <a:rPr lang="en-US" sz="1800" dirty="0">
                <a:solidFill>
                  <a:srgbClr val="8E8E93"/>
                </a:solidFill>
                <a:latin typeface="Helvetica Neue Light" pitchFamily="34" charset="0"/>
                <a:ea typeface="Helvetica Neue Light" pitchFamily="34" charset="-122"/>
                <a:cs typeface="Helvetica Neue Light" pitchFamily="34" charset="-120"/>
              </a:rPr>
              <a:t>exchanged ideas</a:t>
            </a:r>
            <a:endParaRPr lang="en-US" sz="1800" dirty="0"/>
          </a:p>
        </p:txBody>
      </p:sp>
      <p:sp>
        <p:nvSpPr>
          <p:cNvPr id="13" name="link3"/>
          <p:cNvSpPr/>
          <p:nvPr/>
        </p:nvSpPr>
        <p:spPr>
          <a:xfrm flipV="1">
            <a:off x="4396875" y="3657600"/>
            <a:ext cx="1086822" cy="730547"/>
          </a:xfrm>
          <a:prstGeom prst="line">
            <a:avLst/>
          </a:prstGeom>
          <a:noFill/>
          <a:ln w="15875">
            <a:solidFill>
              <a:srgbClr val="48484A"/>
            </a:solidFill>
            <a:prstDash val="solid"/>
          </a:ln>
        </p:spPr>
      </p:sp>
      <p:sp>
        <p:nvSpPr>
          <p:cNvPr id="14" name="person3"/>
          <p:cNvSpPr txBox="1"/>
          <p:nvPr/>
        </p:nvSpPr>
        <p:spPr>
          <a:xfrm>
            <a:off x="1955923" y="4507019"/>
            <a:ext cx="365760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Neue" pitchFamily="34" charset="0"/>
                <a:ea typeface="Helvetica Neue" pitchFamily="34" charset="-122"/>
                <a:cs typeface="Helvetica Neue" pitchFamily="34" charset="-120"/>
              </a:rPr>
              <a:t>Len Sassaman</a:t>
            </a:r>
            <a:endParaRPr lang="en-US" sz="3200" dirty="0"/>
          </a:p>
        </p:txBody>
      </p:sp>
      <p:sp>
        <p:nvSpPr>
          <p:cNvPr id="15" name="relation3"/>
          <p:cNvSpPr txBox="1"/>
          <p:nvPr/>
        </p:nvSpPr>
        <p:spPr>
          <a:xfrm>
            <a:off x="1955923" y="5037371"/>
            <a:ext cx="3657600" cy="320040"/>
          </a:xfrm>
          <a:prstGeom prst="rect">
            <a:avLst/>
          </a:prstGeom>
          <a:noFill/>
          <a:ln/>
        </p:spPr>
        <p:txBody>
          <a:bodyPr wrap="square" lIns="0" tIns="0" rIns="0" bIns="0" rtlCol="0" anchor="t"/>
          <a:lstStyle/>
          <a:p>
            <a:pPr algn="ctr" indent="0" marL="0">
              <a:buNone/>
            </a:pPr>
            <a:r>
              <a:rPr lang="en-US" sz="1800" dirty="0">
                <a:solidFill>
                  <a:srgbClr val="8E8E93"/>
                </a:solidFill>
                <a:latin typeface="Helvetica Neue Light" pitchFamily="34" charset="0"/>
                <a:ea typeface="Helvetica Neue Light" pitchFamily="34" charset="-122"/>
                <a:cs typeface="Helvetica Neue Light" pitchFamily="34" charset="-120"/>
              </a:rPr>
              <a:t>professional circle</a:t>
            </a:r>
            <a:endParaRPr lang="en-US" sz="1800" dirty="0"/>
          </a:p>
        </p:txBody>
      </p:sp>
      <p:sp>
        <p:nvSpPr>
          <p:cNvPr id="16" name="link4"/>
          <p:cNvSpPr/>
          <p:nvPr/>
        </p:nvSpPr>
        <p:spPr>
          <a:xfrm>
            <a:off x="4246333" y="2952636"/>
            <a:ext cx="211685" cy="33591"/>
          </a:xfrm>
          <a:prstGeom prst="line">
            <a:avLst/>
          </a:prstGeom>
          <a:noFill/>
          <a:ln w="15875">
            <a:solidFill>
              <a:srgbClr val="48484A"/>
            </a:solidFill>
            <a:prstDash val="solid"/>
          </a:ln>
        </p:spPr>
      </p:sp>
      <p:sp>
        <p:nvSpPr>
          <p:cNvPr id="17" name="person4"/>
          <p:cNvSpPr txBox="1"/>
          <p:nvPr/>
        </p:nvSpPr>
        <p:spPr>
          <a:xfrm>
            <a:off x="527569" y="2360125"/>
            <a:ext cx="3657600" cy="502920"/>
          </a:xfrm>
          <a:prstGeom prst="rect">
            <a:avLst/>
          </a:prstGeom>
          <a:noFill/>
          <a:ln/>
        </p:spPr>
        <p:txBody>
          <a:bodyPr wrap="square" lIns="0" tIns="0" rIns="0" bIns="0" rtlCol="0" anchor="ctr"/>
          <a:lstStyle/>
          <a:p>
            <a:pPr algn="ctr" indent="0" marL="0">
              <a:buNone/>
            </a:pPr>
            <a:r>
              <a:rPr lang="en-US" sz="3200" b="1" dirty="0">
                <a:solidFill>
                  <a:srgbClr val="FFFFFF"/>
                </a:solidFill>
                <a:latin typeface="Helvetica Neue" pitchFamily="34" charset="0"/>
                <a:ea typeface="Helvetica Neue" pitchFamily="34" charset="-122"/>
                <a:cs typeface="Helvetica Neue" pitchFamily="34" charset="-120"/>
              </a:rPr>
              <a:t>Phil Zimmermann</a:t>
            </a:r>
            <a:endParaRPr lang="en-US" sz="3200" dirty="0"/>
          </a:p>
        </p:txBody>
      </p:sp>
      <p:sp>
        <p:nvSpPr>
          <p:cNvPr id="18" name="relation4"/>
          <p:cNvSpPr txBox="1"/>
          <p:nvPr/>
        </p:nvSpPr>
        <p:spPr>
          <a:xfrm>
            <a:off x="527569" y="2890477"/>
            <a:ext cx="3657600" cy="320040"/>
          </a:xfrm>
          <a:prstGeom prst="rect">
            <a:avLst/>
          </a:prstGeom>
          <a:noFill/>
          <a:ln/>
        </p:spPr>
        <p:txBody>
          <a:bodyPr wrap="square" lIns="0" tIns="0" rIns="0" bIns="0" rtlCol="0" anchor="t"/>
          <a:lstStyle/>
          <a:p>
            <a:pPr algn="ctr" indent="0" marL="0">
              <a:buNone/>
            </a:pPr>
            <a:r>
              <a:rPr lang="en-US" sz="1800" dirty="0">
                <a:solidFill>
                  <a:srgbClr val="8E8E93"/>
                </a:solidFill>
                <a:latin typeface="Helvetica Neue Light" pitchFamily="34" charset="0"/>
                <a:ea typeface="Helvetica Neue Light" pitchFamily="34" charset="-122"/>
                <a:cs typeface="Helvetica Neue Light" pitchFamily="34" charset="-120"/>
              </a:rPr>
              <a:t>professional circle</a:t>
            </a:r>
            <a:endParaRPr lang="en-US" sz="1800" dirty="0"/>
          </a:p>
        </p:txBody>
      </p:sp>
      <p:sp>
        <p:nvSpPr>
          <p:cNvPr id="19" name="timeline"/>
          <p:cNvSpPr/>
          <p:nvPr/>
        </p:nvSpPr>
        <p:spPr>
          <a:xfrm>
            <a:off x="914400" y="6199632"/>
            <a:ext cx="10362895" cy="0"/>
          </a:xfrm>
          <a:prstGeom prst="line">
            <a:avLst/>
          </a:prstGeom>
          <a:noFill/>
          <a:ln w="12700">
            <a:solidFill>
              <a:srgbClr val="2C2C2E"/>
            </a:solidFill>
            <a:prstDash val="solid"/>
          </a:ln>
        </p:spPr>
      </p:sp>
      <p:sp>
        <p:nvSpPr>
          <p:cNvPr id="20"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21"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22" name="timeline-now"/>
          <p:cNvSpPr/>
          <p:nvPr/>
        </p:nvSpPr>
        <p:spPr>
          <a:xfrm>
            <a:off x="7763561" y="6140196"/>
            <a:ext cx="118872" cy="118872"/>
          </a:xfrm>
          <a:prstGeom prst="ellipse">
            <a:avLst/>
          </a:prstGeom>
          <a:solidFill>
            <a:srgbClr val="F7931A"/>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MISSING INGREDIENT</a:t>
            </a:r>
            <a:endParaRPr lang="en-US" sz="1800" dirty="0"/>
          </a:p>
          <a:p>
            <a:pPr algn="l" indent="0" marL="0">
              <a:lnSpc>
                <a:spcPct val="92000"/>
              </a:lnSpc>
              <a:spcBef>
                <a:spcPts val="810"/>
              </a:spcBef>
              <a:buNone/>
            </a:pPr>
            <a:r>
              <a:rPr lang="en-US" sz="6600" b="1" dirty="0">
                <a:solidFill>
                  <a:srgbClr val="FFFFFF"/>
                </a:solidFill>
                <a:latin typeface="Helvetica Neue" pitchFamily="34" charset="0"/>
                <a:ea typeface="Helvetica Neue" pitchFamily="34" charset="-122"/>
                <a:cs typeface="Helvetica Neue" pitchFamily="34" charset="-120"/>
              </a:rPr>
              <a:t>Not better encryption.</a:t>
            </a:r>
            <a:endParaRPr lang="en-US" sz="1800" dirty="0"/>
          </a:p>
          <a:p>
            <a:pPr algn="l" indent="0" marL="0">
              <a:lnSpc>
                <a:spcPct val="92000"/>
              </a:lnSpc>
              <a:buNone/>
            </a:pPr>
            <a:r>
              <a:rPr lang="en-US" sz="6600" b="1" dirty="0">
                <a:solidFill>
                  <a:srgbClr val="FFFFFF"/>
                </a:solidFill>
                <a:latin typeface="Helvetica Neue" pitchFamily="34" charset="0"/>
                <a:ea typeface="Helvetica Neue" pitchFamily="34" charset="-122"/>
                <a:cs typeface="Helvetica Neue" pitchFamily="34" charset="-120"/>
              </a:rPr>
              <a:t>Not another digital token.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257032" y="6140196"/>
            <a:ext cx="118872" cy="118872"/>
          </a:xfrm>
          <a:prstGeom prst="ellipse">
            <a:avLst/>
          </a:prstGeom>
          <a:solidFill>
            <a:srgbClr val="F7931A"/>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MISSING INGREDIENT</a:t>
            </a:r>
            <a:endParaRPr lang="en-US" sz="1800" dirty="0"/>
          </a:p>
          <a:p>
            <a:pPr algn="l" indent="0" marL="0">
              <a:lnSpc>
                <a:spcPct val="92000"/>
              </a:lnSpc>
              <a:spcBef>
                <a:spcPts val="810"/>
              </a:spcBef>
              <a:buNone/>
            </a:pPr>
            <a:r>
              <a:rPr lang="en-US" sz="7200" b="1" dirty="0">
                <a:solidFill>
                  <a:srgbClr val="FFFFFF"/>
                </a:solidFill>
                <a:latin typeface="Helvetica Neue" pitchFamily="34" charset="0"/>
                <a:ea typeface="Helvetica Neue" pitchFamily="34" charset="-122"/>
                <a:cs typeface="Helvetica Neue" pitchFamily="34" charset="-120"/>
              </a:rPr>
              <a:t>A way for strangers</a:t>
            </a:r>
            <a:endParaRPr lang="en-US" sz="1800" dirty="0"/>
          </a:p>
          <a:p>
            <a:pPr algn="l" indent="0" marL="0">
              <a:lnSpc>
                <a:spcPct val="92000"/>
              </a:lnSpc>
              <a:buNone/>
            </a:pPr>
            <a:r>
              <a:rPr lang="en-US" sz="7200" b="1" dirty="0">
                <a:solidFill>
                  <a:srgbClr val="FFFFFF"/>
                </a:solidFill>
                <a:latin typeface="Helvetica Neue" pitchFamily="34" charset="0"/>
                <a:ea typeface="Helvetica Neue" pitchFamily="34" charset="-122"/>
                <a:cs typeface="Helvetica Neue" pitchFamily="34" charset="-120"/>
              </a:rPr>
              <a:t>to agree on</a:t>
            </a:r>
            <a:pPr indent="0" marL="0">
              <a:buNone/>
            </a:pPr>
            <a:r>
              <a:rPr lang="en-US" sz="7200" b="1" dirty="0">
                <a:solidFill>
                  <a:srgbClr val="F7931A"/>
                </a:solidFill>
                <a:latin typeface="Helvetica Neue" pitchFamily="34" charset="0"/>
                <a:ea typeface="Helvetica Neue" pitchFamily="34" charset="-122"/>
                <a:cs typeface="Helvetica Neue" pitchFamily="34" charset="-120"/>
              </a:rPr>
              <a:t> one history</a:t>
            </a:r>
            <a:pPr indent="0" marL="0">
              <a:buNone/>
            </a:pPr>
            <a:r>
              <a:rPr lang="en-US" sz="7200" b="1" dirty="0">
                <a:solidFill>
                  <a:srgbClr val="FFFFFF"/>
                </a:solidFill>
                <a:latin typeface="Helvetica Neue" pitchFamily="34" charset="0"/>
                <a:ea typeface="Helvetica Neue" pitchFamily="34" charset="-122"/>
                <a:cs typeface="Helvetica Neue"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257032" y="6140196"/>
            <a:ext cx="118872" cy="118872"/>
          </a:xfrm>
          <a:prstGeom prst="ellipse">
            <a:avLst/>
          </a:prstGeom>
          <a:solidFill>
            <a:srgbClr val="F7931A"/>
          </a:solid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IV</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RPOW</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Reusable Proofs of Work · 2004 – 2005</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8809939" y="6199632"/>
            <a:ext cx="296083" cy="0"/>
          </a:xfrm>
          <a:prstGeom prst="line">
            <a:avLst/>
          </a:prstGeom>
          <a:noFill/>
          <a:ln w="31750">
            <a:solidFill>
              <a:srgbClr val="F7931A"/>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2004 · AGE 48 · HE BUILT IT</a:t>
            </a:r>
            <a:endParaRPr lang="en-US" sz="1800" dirty="0"/>
          </a:p>
          <a:p>
            <a:pPr algn="l" indent="0" marL="0">
              <a:lnSpc>
                <a:spcPct val="86000"/>
              </a:lnSpc>
              <a:spcBef>
                <a:spcPts val="810"/>
              </a:spcBef>
              <a:buNone/>
            </a:pPr>
            <a:r>
              <a:rPr lang="en-US" sz="22000" b="1" dirty="0">
                <a:solidFill>
                  <a:srgbClr val="F7931A"/>
                </a:solidFill>
                <a:latin typeface="Helvetica Neue" pitchFamily="34" charset="0"/>
                <a:ea typeface="Helvetica Neue" pitchFamily="34" charset="-122"/>
                <a:cs typeface="Helvetica Neue" pitchFamily="34" charset="-120"/>
              </a:rPr>
              <a:t>RPOW</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Working digital-money software — not merely a proposal.</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898545" y="6140196"/>
            <a:ext cx="118872" cy="118872"/>
          </a:xfrm>
          <a:prstGeom prst="ellipse">
            <a:avLst/>
          </a:prstGeom>
          <a:solidFill>
            <a:srgbClr val="F7931A"/>
          </a:solidFill>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15, 2004 · CRYPTOGRAPHY MAILING LIST</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An open</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invitation.</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Hal asked cryptographers to test his</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Hashcash-based server — and to</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criticize</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 it.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03479" y="6140196"/>
            <a:ext cx="118872" cy="118872"/>
          </a:xfrm>
          <a:prstGeom prst="ellipse">
            <a:avLst/>
          </a:prstGeom>
          <a:solidFill>
            <a:srgbClr val="F7931A"/>
          </a:solidFill>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18, 2004 · THE CRITIC</a:t>
            </a:r>
            <a:endParaRPr lang="en-US" sz="1800" dirty="0"/>
          </a:p>
          <a:p>
            <a:pPr algn="l" indent="0" marL="0">
              <a:lnSpc>
                <a:spcPct val="108000"/>
              </a:lnSpc>
              <a:spcBef>
                <a:spcPts val="2400"/>
              </a:spcBef>
              <a:buNone/>
            </a:pPr>
            <a:r>
              <a:rPr lang="en-US" sz="4800" dirty="0">
                <a:solidFill>
                  <a:srgbClr val="FFFFFF"/>
                </a:solidFill>
                <a:latin typeface="Helvetica Neue Light" pitchFamily="34" charset="0"/>
                <a:ea typeface="Helvetica Neue Light" pitchFamily="34" charset="-122"/>
                <a:cs typeface="Helvetica Neue Light" pitchFamily="34" charset="-120"/>
              </a:rPr>
              <a:t>“I’m wondering how applicable</a:t>
            </a:r>
            <a:endParaRPr lang="en-US" sz="1800" dirty="0"/>
          </a:p>
          <a:p>
            <a:pPr algn="l" indent="0" marL="0">
              <a:lnSpc>
                <a:spcPct val="108000"/>
              </a:lnSpc>
              <a:buNone/>
            </a:pPr>
            <a:r>
              <a:rPr lang="en-US" sz="4800" dirty="0">
                <a:solidFill>
                  <a:srgbClr val="FFFFFF"/>
                </a:solidFill>
                <a:latin typeface="Helvetica Neue Light" pitchFamily="34" charset="0"/>
                <a:ea typeface="Helvetica Neue Light" pitchFamily="34" charset="-122"/>
                <a:cs typeface="Helvetica Neue Light" pitchFamily="34" charset="-120"/>
              </a:rPr>
              <a:t>RPOW is.”</a:t>
            </a:r>
            <a:endParaRPr lang="en-US" sz="1800" dirty="0"/>
          </a:p>
          <a:p>
            <a:pPr algn="l" indent="0" marL="0">
              <a:lnSpc>
                <a:spcPct val="108000"/>
              </a:lnSpc>
              <a:buNone/>
            </a:pPr>
            <a:r>
              <a:rPr lang="en-US" sz="4800" dirty="0">
                <a:solidFill>
                  <a:srgbClr val="FFFFFF"/>
                </a:solidFill>
                <a:latin typeface="Helvetica Neue Light" pitchFamily="34" charset="0"/>
                <a:ea typeface="Helvetica Neue Light" pitchFamily="34" charset="-122"/>
                <a:cs typeface="Helvetica Neue Light" pitchFamily="34" charset="-120"/>
              </a:rPr>
              <a:t>“…</a:t>
            </a:r>
            <a:pPr indent="0" marL="0">
              <a:buNone/>
            </a:pPr>
            <a:r>
              <a:rPr lang="en-US" sz="4800" dirty="0">
                <a:solidFill>
                  <a:srgbClr val="F7931A"/>
                </a:solidFill>
                <a:latin typeface="Helvetica Neue Medium" pitchFamily="34" charset="0"/>
                <a:ea typeface="Helvetica Neue Medium" pitchFamily="34" charset="-122"/>
                <a:cs typeface="Helvetica Neue Medium" pitchFamily="34" charset="-120"/>
              </a:rPr>
              <a:t>aren’t we restricted to</a:t>
            </a:r>
            <a:endParaRPr lang="en-US" sz="1800" dirty="0"/>
          </a:p>
          <a:p>
            <a:pPr algn="l" indent="0" marL="0">
              <a:lnSpc>
                <a:spcPct val="108000"/>
              </a:lnSpc>
              <a:buNone/>
            </a:pPr>
            <a:r>
              <a:rPr lang="en-US" sz="4800" dirty="0">
                <a:solidFill>
                  <a:srgbClr val="F7931A"/>
                </a:solidFill>
                <a:latin typeface="Helvetica Neue Medium" pitchFamily="34" charset="0"/>
                <a:ea typeface="Helvetica Neue Medium" pitchFamily="34" charset="-122"/>
                <a:cs typeface="Helvetica Neue Medium" pitchFamily="34" charset="-120"/>
              </a:rPr>
              <a:t>applications already nailed</a:t>
            </a:r>
            <a:endParaRPr lang="en-US" sz="1800" dirty="0"/>
          </a:p>
          <a:p>
            <a:pPr algn="l" indent="0" marL="0">
              <a:lnSpc>
                <a:spcPct val="108000"/>
              </a:lnSpc>
              <a:buNone/>
            </a:pPr>
            <a:r>
              <a:rPr lang="en-US" sz="4800" dirty="0">
                <a:solidFill>
                  <a:srgbClr val="F7931A"/>
                </a:solidFill>
                <a:latin typeface="Helvetica Neue Medium" pitchFamily="34" charset="0"/>
                <a:ea typeface="Helvetica Neue Medium" pitchFamily="34" charset="-122"/>
                <a:cs typeface="Helvetica Neue Medium" pitchFamily="34" charset="-120"/>
              </a:rPr>
              <a:t>down by digital cash schemes?</a:t>
            </a:r>
            <a:pPr indent="0" marL="0">
              <a:buNone/>
            </a:pPr>
            <a:r>
              <a:rPr lang="en-US" sz="48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Ray Dillinger (“bear”), Cryptography mailing list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05947" y="6140196"/>
            <a:ext cx="118872" cy="118872"/>
          </a:xfrm>
          <a:prstGeom prst="ellipse">
            <a:avLst/>
          </a:prstGeom>
          <a:solidFill>
            <a:srgbClr val="F7931A"/>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19, 2004 · HAL ANSWERS</a:t>
            </a:r>
            <a:endParaRPr lang="en-US" sz="1800" dirty="0"/>
          </a:p>
          <a:p>
            <a:pPr algn="l" indent="0" marL="0">
              <a:lnSpc>
                <a:spcPct val="108000"/>
              </a:lnSpc>
              <a:spcBef>
                <a:spcPts val="2400"/>
              </a:spcBef>
              <a:buNone/>
            </a:pPr>
            <a:r>
              <a:rPr lang="en-US" sz="5400" dirty="0">
                <a:solidFill>
                  <a:srgbClr val="FFFFFF"/>
                </a:solidFill>
                <a:latin typeface="Helvetica Neue Light" pitchFamily="34" charset="0"/>
                <a:ea typeface="Helvetica Neue Light" pitchFamily="34" charset="-122"/>
                <a:cs typeface="Helvetica Neue Light" pitchFamily="34" charset="-120"/>
              </a:rPr>
              <a:t>“Another way to think of RPOWs</a:t>
            </a:r>
            <a:endParaRPr lang="en-US" sz="1800" dirty="0"/>
          </a:p>
          <a:p>
            <a:pPr algn="l" indent="0" marL="0">
              <a:lnSpc>
                <a:spcPct val="108000"/>
              </a:lnSpc>
              <a:buNone/>
            </a:pPr>
            <a:r>
              <a:rPr lang="en-US" sz="5400" dirty="0">
                <a:solidFill>
                  <a:srgbClr val="FFFFFF"/>
                </a:solidFill>
                <a:latin typeface="Helvetica Neue Light" pitchFamily="34" charset="0"/>
                <a:ea typeface="Helvetica Neue Light" pitchFamily="34" charset="-122"/>
                <a:cs typeface="Helvetica Neue Light" pitchFamily="34" charset="-120"/>
              </a:rPr>
              <a:t>is as an implementation of</a:t>
            </a:r>
            <a:pPr indent="0" marL="0">
              <a:buNone/>
            </a:pPr>
            <a:r>
              <a:rPr lang="en-US" sz="5400" dirty="0">
                <a:solidFill>
                  <a:srgbClr val="F7931A"/>
                </a:solidFill>
                <a:latin typeface="Helvetica Neue Medium" pitchFamily="34" charset="0"/>
                <a:ea typeface="Helvetica Neue Medium" pitchFamily="34" charset="-122"/>
                <a:cs typeface="Helvetica Neue Medium" pitchFamily="34" charset="-120"/>
              </a:rPr>
              <a:t> Nick</a:t>
            </a:r>
            <a:endParaRPr lang="en-US" sz="1800" dirty="0"/>
          </a:p>
          <a:p>
            <a:pPr algn="l" indent="0" marL="0">
              <a:lnSpc>
                <a:spcPct val="108000"/>
              </a:lnSpc>
              <a:buNone/>
            </a:pPr>
            <a:r>
              <a:rPr lang="en-US" sz="5400" dirty="0">
                <a:solidFill>
                  <a:srgbClr val="F7931A"/>
                </a:solidFill>
                <a:latin typeface="Helvetica Neue Medium" pitchFamily="34" charset="0"/>
                <a:ea typeface="Helvetica Neue Medium" pitchFamily="34" charset="-122"/>
                <a:cs typeface="Helvetica Neue Medium" pitchFamily="34" charset="-120"/>
              </a:rPr>
              <a:t>Szabo’s concept of ‘bit gold’</a:t>
            </a:r>
            <a:pPr indent="0" marL="0">
              <a:buNone/>
            </a:pPr>
            <a:r>
              <a:rPr lang="en-US" sz="54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Hal Finney, Cryptography mailing list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05947" y="6140196"/>
            <a:ext cx="118872" cy="118872"/>
          </a:xfrm>
          <a:prstGeom prst="ellipse">
            <a:avLst/>
          </a:prstGeom>
          <a:solidFill>
            <a:srgbClr val="F7931A"/>
          </a:solidFill>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21, 2004 · ADAM BACK REPLIES</a:t>
            </a:r>
            <a:endParaRPr lang="en-US" sz="1800" dirty="0"/>
          </a:p>
          <a:p>
            <a:pPr algn="l" indent="0" marL="0">
              <a:lnSpc>
                <a:spcPct val="92000"/>
              </a:lnSpc>
              <a:spcBef>
                <a:spcPts val="810"/>
              </a:spcBef>
              <a:buNone/>
            </a:pPr>
            <a:r>
              <a:rPr lang="en-US" sz="8800" b="1" dirty="0">
                <a:solidFill>
                  <a:srgbClr val="FFFFFF"/>
                </a:solidFill>
                <a:latin typeface="Helvetica Neue" pitchFamily="34" charset="0"/>
                <a:ea typeface="Helvetica Neue" pitchFamily="34" charset="-122"/>
                <a:cs typeface="Helvetica Neue" pitchFamily="34" charset="-120"/>
              </a:rPr>
              <a:t>Two future Bitcoin</a:t>
            </a:r>
            <a:endParaRPr lang="en-US" sz="1800" dirty="0"/>
          </a:p>
          <a:p>
            <a:pPr algn="l" indent="0" marL="0">
              <a:lnSpc>
                <a:spcPct val="92000"/>
              </a:lnSpc>
              <a:buNone/>
            </a:pPr>
            <a:r>
              <a:rPr lang="en-US" sz="8800" b="1" dirty="0">
                <a:solidFill>
                  <a:srgbClr val="FFFFFF"/>
                </a:solidFill>
                <a:latin typeface="Helvetica Neue" pitchFamily="34" charset="0"/>
                <a:ea typeface="Helvetica Neue" pitchFamily="34" charset="-122"/>
                <a:cs typeface="Helvetica Neue" pitchFamily="34" charset="-120"/>
              </a:rPr>
              <a:t>pioneers,</a:t>
            </a:r>
            <a:pPr indent="0" marL="0">
              <a:buNone/>
            </a:pPr>
            <a:r>
              <a:rPr lang="en-US" sz="8800" b="1" dirty="0">
                <a:solidFill>
                  <a:srgbClr val="F7931A"/>
                </a:solidFill>
                <a:latin typeface="Helvetica Neue" pitchFamily="34" charset="0"/>
                <a:ea typeface="Helvetica Neue" pitchFamily="34" charset="-122"/>
                <a:cs typeface="Helvetica Neue" pitchFamily="34" charset="-120"/>
              </a:rPr>
              <a:t> debating</a:t>
            </a:r>
            <a:pPr indent="0" marL="0">
              <a:buNone/>
            </a:pPr>
            <a:r>
              <a:rPr lang="en-US" sz="88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Back saw RPOW as Chaumian e-cash,</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built from Hashcash and trusted hardware.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08414" y="6140196"/>
            <a:ext cx="118872" cy="118872"/>
          </a:xfrm>
          <a:prstGeom prst="ellipse">
            <a:avLst/>
          </a:prstGeom>
          <a:solidFill>
            <a:srgbClr val="F7931A"/>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IBM COPROCESSOR</a:t>
            </a:r>
            <a:endParaRPr lang="en-US" sz="1800" dirty="0"/>
          </a:p>
          <a:p>
            <a:pPr algn="l" indent="0" marL="0">
              <a:lnSpc>
                <a:spcPct val="92000"/>
              </a:lnSpc>
              <a:spcBef>
                <a:spcPts val="810"/>
              </a:spcBef>
              <a:buNone/>
            </a:pPr>
            <a:r>
              <a:rPr lang="en-US" sz="9000" b="1" dirty="0">
                <a:solidFill>
                  <a:srgbClr val="FFFFFF"/>
                </a:solidFill>
                <a:latin typeface="Helvetica Neue" pitchFamily="34" charset="0"/>
                <a:ea typeface="Helvetica Neue" pitchFamily="34" charset="-122"/>
                <a:cs typeface="Helvetica Neue" pitchFamily="34" charset="-120"/>
              </a:rPr>
              <a:t>Trust still lived</a:t>
            </a:r>
            <a:endParaRPr lang="en-US" sz="1800" dirty="0"/>
          </a:p>
          <a:p>
            <a:pPr algn="l" indent="0" marL="0">
              <a:lnSpc>
                <a:spcPct val="92000"/>
              </a:lnSpc>
              <a:buNone/>
            </a:pPr>
            <a:r>
              <a:rPr lang="en-US" sz="9000" b="1" dirty="0">
                <a:solidFill>
                  <a:srgbClr val="FFFFFF"/>
                </a:solidFill>
                <a:latin typeface="Helvetica Neue" pitchFamily="34" charset="0"/>
                <a:ea typeface="Helvetica Neue" pitchFamily="34" charset="-122"/>
                <a:cs typeface="Helvetica Neue" pitchFamily="34" charset="-120"/>
              </a:rPr>
              <a:t>inside an</a:t>
            </a:r>
            <a:pPr indent="0" marL="0">
              <a:buNone/>
            </a:pPr>
            <a:r>
              <a:rPr lang="en-US" sz="9000" b="1" dirty="0">
                <a:solidFill>
                  <a:srgbClr val="F7931A"/>
                </a:solidFill>
                <a:latin typeface="Helvetica Neue" pitchFamily="34" charset="0"/>
                <a:ea typeface="Helvetica Neue" pitchFamily="34" charset="-122"/>
                <a:cs typeface="Helvetica Neue" pitchFamily="34" charset="-120"/>
              </a:rPr>
              <a:t> IBM chip</a:t>
            </a:r>
            <a:pPr indent="0" marL="0">
              <a:buNone/>
            </a:pPr>
            <a:r>
              <a:rPr lang="en-US" sz="90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Even the operator couldn’t cheat — but</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everyone depended on trusted hardware.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23218" y="6140196"/>
            <a:ext cx="118872" cy="118872"/>
          </a:xfrm>
          <a:prstGeom prst="ellipse">
            <a:avLst/>
          </a:prstGeom>
          <a:solidFill>
            <a:srgbClr val="F7931A"/>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WEAKNESS</a:t>
            </a:r>
            <a:endParaRPr lang="en-US" sz="1800" dirty="0"/>
          </a:p>
          <a:p>
            <a:pPr algn="l" indent="0" marL="0">
              <a:lnSpc>
                <a:spcPct val="92000"/>
              </a:lnSpc>
              <a:spcBef>
                <a:spcPts val="810"/>
              </a:spcBef>
              <a:buNone/>
            </a:pPr>
            <a:r>
              <a:rPr lang="en-US" sz="8200" b="1" dirty="0">
                <a:solidFill>
                  <a:srgbClr val="FFFFFF"/>
                </a:solidFill>
                <a:latin typeface="Helvetica Neue" pitchFamily="34" charset="0"/>
                <a:ea typeface="Helvetica Neue" pitchFamily="34" charset="-122"/>
                <a:cs typeface="Helvetica Neue" pitchFamily="34" charset="-120"/>
              </a:rPr>
              <a:t>If the server failed,</a:t>
            </a:r>
            <a:endParaRPr lang="en-US" sz="1800" dirty="0"/>
          </a:p>
          <a:p>
            <a:pPr algn="l" indent="0" marL="0">
              <a:lnSpc>
                <a:spcPct val="92000"/>
              </a:lnSpc>
              <a:buNone/>
            </a:pPr>
            <a:r>
              <a:rPr lang="en-US" sz="8200" b="1" dirty="0">
                <a:solidFill>
                  <a:srgbClr val="FFFFFF"/>
                </a:solidFill>
                <a:latin typeface="Helvetica Neue" pitchFamily="34" charset="0"/>
                <a:ea typeface="Helvetica Neue" pitchFamily="34" charset="-122"/>
                <a:cs typeface="Helvetica Neue" pitchFamily="34" charset="-120"/>
              </a:rPr>
              <a:t>the tokens could</a:t>
            </a:r>
            <a:pPr indent="0" marL="0">
              <a:buNone/>
            </a:pPr>
            <a:r>
              <a:rPr lang="en-US" sz="8200" b="1" dirty="0">
                <a:solidFill>
                  <a:srgbClr val="F7931A"/>
                </a:solidFill>
                <a:latin typeface="Helvetica Neue" pitchFamily="34" charset="0"/>
                <a:ea typeface="Helvetica Neue" pitchFamily="34" charset="-122"/>
                <a:cs typeface="Helvetica Neue" pitchFamily="34" charset="-120"/>
              </a:rPr>
              <a:t> fail</a:t>
            </a:r>
            <a:pPr indent="0" marL="0">
              <a:buNone/>
            </a:pPr>
            <a:r>
              <a:rPr lang="en-US" sz="8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One machine’s fate should not decide</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whether someone’s savings survive.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23218" y="6140196"/>
            <a:ext cx="118872" cy="118872"/>
          </a:xfrm>
          <a:prstGeom prst="ellipse">
            <a:avLst/>
          </a:prstGeom>
          <a:solidFill>
            <a:srgbClr val="F7931A"/>
          </a:solidFill>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WORLD OF RPOW</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A shared</a:t>
            </a:r>
            <a:endParaRPr lang="en-US" sz="1800" dirty="0"/>
          </a:p>
          <a:p>
            <a:pPr algn="l" indent="0" marL="0">
              <a:lnSpc>
                <a:spcPct val="92000"/>
              </a:lnSpc>
              <a:buNone/>
            </a:pPr>
            <a:r>
              <a:rPr lang="en-US" sz="9200" b="1" dirty="0">
                <a:solidFill>
                  <a:srgbClr val="F7931A"/>
                </a:solidFill>
                <a:latin typeface="Helvetica Neue" pitchFamily="34" charset="0"/>
                <a:ea typeface="Helvetica Neue" pitchFamily="34" charset="-122"/>
                <a:cs typeface="Helvetica Neue" pitchFamily="34" charset="-120"/>
              </a:rPr>
              <a:t>database</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Several RPOW servers keeping one</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common record of spent tokens.</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23218" y="6140196"/>
            <a:ext cx="118872" cy="118872"/>
          </a:xfrm>
          <a:prstGeom prst="ellipse">
            <a:avLst/>
          </a:prstGeom>
          <a:solidFill>
            <a:srgbClr val="F7931A"/>
          </a:solidFill>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HAL FINNEY · WORLD OF RPOW</a:t>
            </a:r>
            <a:endParaRPr lang="en-US" sz="1800" dirty="0"/>
          </a:p>
          <a:p>
            <a:pPr algn="l" indent="0" marL="0">
              <a:lnSpc>
                <a:spcPct val="108000"/>
              </a:lnSpc>
              <a:spcBef>
                <a:spcPts val="2400"/>
              </a:spcBef>
              <a:buNone/>
            </a:pPr>
            <a:r>
              <a:rPr lang="en-US" sz="6000" dirty="0">
                <a:solidFill>
                  <a:srgbClr val="FFFFFF"/>
                </a:solidFill>
                <a:latin typeface="Helvetica Neue Light" pitchFamily="34" charset="0"/>
                <a:ea typeface="Helvetica Neue Light" pitchFamily="34" charset="-122"/>
                <a:cs typeface="Helvetica Neue Light" pitchFamily="34" charset="-120"/>
              </a:rPr>
              <a:t>“Ultimately, this approach was</a:t>
            </a:r>
            <a:endParaRPr lang="en-US" sz="1800" dirty="0"/>
          </a:p>
          <a:p>
            <a:pPr algn="l" indent="0" marL="0">
              <a:lnSpc>
                <a:spcPct val="108000"/>
              </a:lnSpc>
              <a:buNone/>
            </a:pPr>
            <a:r>
              <a:rPr lang="en-US" sz="6000" dirty="0">
                <a:solidFill>
                  <a:srgbClr val="FFFFFF"/>
                </a:solidFill>
                <a:latin typeface="Helvetica Neue Light" pitchFamily="34" charset="0"/>
                <a:ea typeface="Helvetica Neue Light" pitchFamily="34" charset="-122"/>
                <a:cs typeface="Helvetica Neue Light" pitchFamily="34" charset="-120"/>
              </a:rPr>
              <a:t>considered and</a:t>
            </a:r>
            <a:pPr indent="0" marL="0">
              <a:buNone/>
            </a:pPr>
            <a:r>
              <a:rPr lang="en-US" sz="6000" dirty="0">
                <a:solidFill>
                  <a:srgbClr val="F7931A"/>
                </a:solidFill>
                <a:latin typeface="Helvetica Neue Medium" pitchFamily="34" charset="0"/>
                <a:ea typeface="Helvetica Neue Medium" pitchFamily="34" charset="-122"/>
                <a:cs typeface="Helvetica Neue Medium" pitchFamily="34" charset="-120"/>
              </a:rPr>
              <a:t> rejected</a:t>
            </a:r>
            <a:pPr indent="0" marL="0">
              <a:buNone/>
            </a:pPr>
            <a:r>
              <a:rPr lang="en-US" sz="60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Hal Finney, RPOW documentation: clustering and shared databases</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23218" y="6140196"/>
            <a:ext cx="118872" cy="118872"/>
          </a:xfrm>
          <a:prstGeom prst="ellipse">
            <a:avLst/>
          </a:prstGeom>
          <a:solidFill>
            <a:srgbClr val="F7931A"/>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UNSOLVED QUESTION</a:t>
            </a:r>
            <a:endParaRPr lang="en-US" sz="1800" dirty="0"/>
          </a:p>
          <a:p>
            <a:pPr algn="l" indent="0" marL="0">
              <a:lnSpc>
                <a:spcPct val="92000"/>
              </a:lnSpc>
              <a:spcBef>
                <a:spcPts val="810"/>
              </a:spcBef>
              <a:buNone/>
            </a:pPr>
            <a:r>
              <a:rPr lang="en-US" sz="7600" b="1" dirty="0">
                <a:solidFill>
                  <a:srgbClr val="FFFFFF"/>
                </a:solidFill>
                <a:latin typeface="Helvetica Neue" pitchFamily="34" charset="0"/>
                <a:ea typeface="Helvetica Neue" pitchFamily="34" charset="-122"/>
                <a:cs typeface="Helvetica Neue" pitchFamily="34" charset="-120"/>
              </a:rPr>
              <a:t>How can computers</a:t>
            </a:r>
            <a:endParaRPr lang="en-US" sz="1800" dirty="0"/>
          </a:p>
          <a:p>
            <a:pPr algn="l" indent="0" marL="0">
              <a:lnSpc>
                <a:spcPct val="92000"/>
              </a:lnSpc>
              <a:buNone/>
            </a:pPr>
            <a:r>
              <a:rPr lang="en-US" sz="7600" b="1" dirty="0">
                <a:solidFill>
                  <a:srgbClr val="FFFFFF"/>
                </a:solidFill>
                <a:latin typeface="Helvetica Neue" pitchFamily="34" charset="0"/>
                <a:ea typeface="Helvetica Neue" pitchFamily="34" charset="-122"/>
                <a:cs typeface="Helvetica Neue" pitchFamily="34" charset="-120"/>
              </a:rPr>
              <a:t>that don’t trust</a:t>
            </a:r>
            <a:endParaRPr lang="en-US" sz="1800" dirty="0"/>
          </a:p>
          <a:p>
            <a:pPr algn="l" indent="0" marL="0">
              <a:lnSpc>
                <a:spcPct val="92000"/>
              </a:lnSpc>
              <a:buNone/>
            </a:pPr>
            <a:r>
              <a:rPr lang="en-US" sz="7600" b="1" dirty="0">
                <a:solidFill>
                  <a:srgbClr val="FFFFFF"/>
                </a:solidFill>
                <a:latin typeface="Helvetica Neue" pitchFamily="34" charset="0"/>
                <a:ea typeface="Helvetica Neue" pitchFamily="34" charset="-122"/>
                <a:cs typeface="Helvetica Neue" pitchFamily="34" charset="-120"/>
              </a:rPr>
              <a:t>one another agree on</a:t>
            </a:r>
            <a:endParaRPr lang="en-US" sz="1800" dirty="0"/>
          </a:p>
          <a:p>
            <a:pPr algn="l" indent="0" marL="0">
              <a:lnSpc>
                <a:spcPct val="92000"/>
              </a:lnSpc>
              <a:buNone/>
            </a:pPr>
            <a:r>
              <a:rPr lang="en-US" sz="7600" b="1" dirty="0">
                <a:solidFill>
                  <a:srgbClr val="F7931A"/>
                </a:solidFill>
                <a:latin typeface="Helvetica Neue" pitchFamily="34" charset="0"/>
                <a:ea typeface="Helvetica Neue" pitchFamily="34" charset="-122"/>
                <a:cs typeface="Helvetica Neue" pitchFamily="34" charset="-120"/>
              </a:rPr>
              <a:t>who owns the money</a:t>
            </a:r>
            <a:pPr indent="0" marL="0">
              <a:buNone/>
            </a:pPr>
            <a:r>
              <a:rPr lang="en-US" sz="7600" b="1" dirty="0">
                <a:solidFill>
                  <a:srgbClr val="FFFFFF"/>
                </a:solidFill>
                <a:latin typeface="Helvetica Neue" pitchFamily="34" charset="0"/>
                <a:ea typeface="Helvetica Neue" pitchFamily="34" charset="-122"/>
                <a:cs typeface="Helvetica Neue"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8947892" y="6140196"/>
            <a:ext cx="118872" cy="118872"/>
          </a:xfrm>
          <a:prstGeom prst="ellipse">
            <a:avLst/>
          </a:prstGeom>
          <a:solidFill>
            <a:srgbClr val="F7931A"/>
          </a:solidFill>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FEBRUARY 2005 · CODECON</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Peer-to-peer</a:t>
            </a:r>
            <a:endParaRPr lang="en-US" sz="1800" dirty="0"/>
          </a:p>
          <a:p>
            <a:pPr algn="l" indent="0" marL="0">
              <a:lnSpc>
                <a:spcPct val="92000"/>
              </a:lnSpc>
              <a:buNone/>
            </a:pPr>
            <a:r>
              <a:rPr lang="en-US" sz="9200" b="1" dirty="0">
                <a:solidFill>
                  <a:srgbClr val="F7931A"/>
                </a:solidFill>
                <a:latin typeface="Helvetica Neue" pitchFamily="34" charset="0"/>
                <a:ea typeface="Helvetica Neue" pitchFamily="34" charset="-122"/>
                <a:cs typeface="Helvetica Neue" pitchFamily="34" charset="-120"/>
              </a:rPr>
              <a:t>money</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RPOW meets BitTorrent: share files to</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earn tokens, spend tokens to buy priority.</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021912" y="6140196"/>
            <a:ext cx="118872" cy="118872"/>
          </a:xfrm>
          <a:prstGeom prst="ellipse">
            <a:avLst/>
          </a:prstGeom>
          <a:solidFill>
            <a:srgbClr val="F7931A"/>
          </a:solidFill>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FEBRUARY 27, 2005 · RPOW 1.2.0</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Add</a:t>
            </a:r>
            <a:pPr indent="0" marL="0">
              <a:buNone/>
            </a:pPr>
            <a:r>
              <a:rPr lang="en-US" sz="9200" b="1" dirty="0">
                <a:solidFill>
                  <a:srgbClr val="F7931A"/>
                </a:solidFill>
                <a:latin typeface="Helvetica Neue" pitchFamily="34" charset="0"/>
                <a:ea typeface="Helvetica Neue" pitchFamily="34" charset="-122"/>
                <a:cs typeface="Helvetica Neue" pitchFamily="34" charset="-120"/>
              </a:rPr>
              <a:t> Tor</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Proof of work, transferable tokens, peer-to-peer</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apps — and anonymous communication.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036716" y="6140196"/>
            <a:ext cx="118872" cy="118872"/>
          </a:xfrm>
          <a:prstGeom prst="ellipse">
            <a:avLst/>
          </a:prstGeom>
          <a:solidFill>
            <a:srgbClr val="F7931A"/>
          </a:solidFill>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FEBRUARY 2005</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The public RPOW</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trail ends.</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The</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problem</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 does not.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036716" y="6140196"/>
            <a:ext cx="118872" cy="118872"/>
          </a:xfrm>
          <a:prstGeom prst="ellipse">
            <a:avLst/>
          </a:prstGeom>
          <a:solidFill>
            <a:srgbClr val="F7931A"/>
          </a:solidFill>
          <a:ln/>
        </p:spPr>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V</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The Silence</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2005 – 2008</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9106022" y="6199632"/>
            <a:ext cx="838901" cy="0"/>
          </a:xfrm>
          <a:prstGeom prst="line">
            <a:avLst/>
          </a:prstGeom>
          <a:noFill/>
          <a:ln w="31750">
            <a:solidFill>
              <a:srgbClr val="F7931A"/>
            </a:solidFill>
            <a:prstDash val="solid"/>
          </a:ln>
        </p:spPr>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2005 – 2007</a:t>
            </a:r>
            <a:endParaRPr lang="en-US" sz="1800" dirty="0"/>
          </a:p>
          <a:p>
            <a:pPr algn="l" indent="0" marL="0">
              <a:lnSpc>
                <a:spcPct val="86000"/>
              </a:lnSpc>
              <a:spcBef>
                <a:spcPts val="810"/>
              </a:spcBef>
              <a:buNone/>
            </a:pPr>
            <a:r>
              <a:rPr lang="en-US" sz="15800" b="1" dirty="0">
                <a:solidFill>
                  <a:srgbClr val="FFFFFF"/>
                </a:solidFill>
                <a:latin typeface="Helvetica Neue" pitchFamily="34" charset="0"/>
                <a:ea typeface="Helvetica Neue" pitchFamily="34" charset="-122"/>
                <a:cs typeface="Helvetica Neue" pitchFamily="34" charset="-120"/>
              </a:rPr>
              <a:t>Two</a:t>
            </a:r>
            <a:pPr indent="0" marL="0">
              <a:buNone/>
            </a:pPr>
            <a:r>
              <a:rPr lang="en-US" sz="15800" b="1" dirty="0">
                <a:solidFill>
                  <a:srgbClr val="F7931A"/>
                </a:solidFill>
                <a:latin typeface="Helvetica Neue" pitchFamily="34" charset="0"/>
                <a:ea typeface="Helvetica Neue" pitchFamily="34" charset="-122"/>
                <a:cs typeface="Helvetica Neue" pitchFamily="34" charset="-120"/>
              </a:rPr>
              <a:t> years</a:t>
            </a:r>
            <a:pPr indent="0" marL="0">
              <a:buNone/>
            </a:pPr>
            <a:r>
              <a:rPr lang="en-US" sz="158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Who made the leap?</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243974" y="6140196"/>
            <a:ext cx="118872" cy="118872"/>
          </a:xfrm>
          <a:prstGeom prst="ellipse">
            <a:avLst/>
          </a:prstGeom>
          <a:solidFill>
            <a:srgbClr val="F7931A"/>
          </a:solidFill>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DECEMBER 2005 · NICK SZABO</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Bit Gold,</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in print.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Proof of work, timestamping, ownership</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records — and still no public implementation.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231638" y="6140196"/>
            <a:ext cx="118872" cy="118872"/>
          </a:xfrm>
          <a:prstGeom prst="ellipse">
            <a:avLst/>
          </a:prstGeom>
          <a:solidFill>
            <a:srgbClr val="F7931A"/>
          </a:solidFill>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2007</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Someone begins</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writing Bitcoin.</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We do not know</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who</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564731" y="6140196"/>
            <a:ext cx="118872" cy="118872"/>
          </a:xfrm>
          <a:prstGeom prst="ellipse">
            <a:avLst/>
          </a:prstGeom>
          <a:solidFill>
            <a:srgbClr val="F7931A"/>
          </a:solidFill>
          <a:ln/>
        </p:spPr>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NOVEMBER 2007</a:t>
            </a:r>
            <a:endParaRPr lang="en-US" sz="1800" dirty="0"/>
          </a:p>
          <a:p>
            <a:pPr algn="l" indent="0" marL="0">
              <a:lnSpc>
                <a:spcPct val="86000"/>
              </a:lnSpc>
              <a:spcBef>
                <a:spcPts val="810"/>
              </a:spcBef>
              <a:buNone/>
            </a:pPr>
            <a:r>
              <a:rPr lang="en-US" sz="17800" b="1" dirty="0">
                <a:solidFill>
                  <a:srgbClr val="FFFFFF"/>
                </a:solidFill>
                <a:latin typeface="Helvetica Neue" pitchFamily="34" charset="0"/>
                <a:ea typeface="Helvetica Neue" pitchFamily="34" charset="-122"/>
                <a:cs typeface="Helvetica Neue" pitchFamily="34" charset="-120"/>
              </a:rPr>
              <a:t>RFC</a:t>
            </a:r>
            <a:pPr indent="0" marL="0">
              <a:buNone/>
            </a:pPr>
            <a:r>
              <a:rPr lang="en-US" sz="17800" b="1" dirty="0">
                <a:solidFill>
                  <a:srgbClr val="F7931A"/>
                </a:solidFill>
                <a:latin typeface="Helvetica Neue" pitchFamily="34" charset="0"/>
                <a:ea typeface="Helvetica Neue" pitchFamily="34" charset="-122"/>
                <a:cs typeface="Helvetica Neue" pitchFamily="34" charset="-120"/>
              </a:rPr>
              <a:t> 4880</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Hal co-authors the OpenPGP standard</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 still a working cryptographic engineer.</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700435" y="6140196"/>
            <a:ext cx="118872" cy="118872"/>
          </a:xfrm>
          <a:prstGeom prst="ellipse">
            <a:avLst/>
          </a:prstGeom>
          <a:solidFill>
            <a:srgbClr val="F7931A"/>
          </a:solidFill>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APRIL 2008 · NICK SZABO, ON BIT GOLD</a:t>
            </a:r>
            <a:endParaRPr lang="en-US" sz="1800" dirty="0"/>
          </a:p>
          <a:p>
            <a:pPr algn="l" indent="0" marL="0">
              <a:lnSpc>
                <a:spcPct val="108000"/>
              </a:lnSpc>
              <a:spcBef>
                <a:spcPts val="2400"/>
              </a:spcBef>
              <a:buNone/>
            </a:pPr>
            <a:r>
              <a:rPr lang="en-US" sz="6400" dirty="0">
                <a:solidFill>
                  <a:srgbClr val="FFFFFF"/>
                </a:solidFill>
                <a:latin typeface="Helvetica Neue Light" pitchFamily="34" charset="0"/>
                <a:ea typeface="Helvetica Neue Light" pitchFamily="34" charset="-122"/>
                <a:cs typeface="Helvetica Neue Light" pitchFamily="34" charset="-120"/>
              </a:rPr>
              <a:t>“Anybody want to help</a:t>
            </a:r>
            <a:endParaRPr lang="en-US" sz="1800" dirty="0"/>
          </a:p>
          <a:p>
            <a:pPr algn="l" indent="0" marL="0">
              <a:lnSpc>
                <a:spcPct val="108000"/>
              </a:lnSpc>
              <a:buNone/>
            </a:pPr>
            <a:r>
              <a:rPr lang="en-US" sz="6400" dirty="0">
                <a:solidFill>
                  <a:srgbClr val="FFFFFF"/>
                </a:solidFill>
                <a:latin typeface="Helvetica Neue Light" pitchFamily="34" charset="0"/>
                <a:ea typeface="Helvetica Neue Light" pitchFamily="34" charset="-122"/>
                <a:cs typeface="Helvetica Neue Light" pitchFamily="34" charset="-120"/>
              </a:rPr>
              <a:t>me</a:t>
            </a:r>
            <a:pPr indent="0" marL="0">
              <a:buNone/>
            </a:pPr>
            <a:r>
              <a:rPr lang="en-US" sz="6400" dirty="0">
                <a:solidFill>
                  <a:srgbClr val="F7931A"/>
                </a:solidFill>
                <a:latin typeface="Helvetica Neue Medium" pitchFamily="34" charset="0"/>
                <a:ea typeface="Helvetica Neue Medium" pitchFamily="34" charset="-122"/>
                <a:cs typeface="Helvetica Neue Medium" pitchFamily="34" charset="-120"/>
              </a:rPr>
              <a:t> code one up</a:t>
            </a:r>
            <a:pPr indent="0" marL="0">
              <a:buNone/>
            </a:pPr>
            <a:r>
              <a:rPr lang="en-US" sz="64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Nick Szabo, blog comment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11466" y="6140196"/>
            <a:ext cx="118872" cy="118872"/>
          </a:xfrm>
          <a:prstGeom prst="ellipse">
            <a:avLst/>
          </a:prstGeom>
          <a:solidFill>
            <a:srgbClr val="F7931A"/>
          </a:solidFill>
          <a:ln/>
        </p:spPr>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APRIL 2008</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Hal had already</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built</a:t>
            </a:r>
            <a:pPr indent="0" marL="0">
              <a:buNone/>
            </a:pPr>
            <a:r>
              <a:rPr lang="en-US" sz="9200" b="1" dirty="0">
                <a:solidFill>
                  <a:srgbClr val="F7931A"/>
                </a:solidFill>
                <a:latin typeface="Helvetica Neue" pitchFamily="34" charset="0"/>
                <a:ea typeface="Helvetica Neue" pitchFamily="34" charset="-122"/>
                <a:cs typeface="Helvetica Neue" pitchFamily="34" charset="-120"/>
              </a:rPr>
              <a:t> RPOW</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There is no verified evidence he answered.</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11466" y="6140196"/>
            <a:ext cx="118872" cy="118872"/>
          </a:xfrm>
          <a:prstGeom prst="ellipse">
            <a:avLst/>
          </a:prstGeom>
          <a:solidFill>
            <a:srgbClr val="F7931A"/>
          </a:solidFill>
          <a:ln/>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kicker"/>
          <p:cNvSpPr txBox="1"/>
          <p:nvPr/>
        </p:nvSpPr>
        <p:spPr>
          <a:xfrm>
            <a:off x="914400" y="914400"/>
            <a:ext cx="91440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CRYPTO++ · REPORTED COMMIT GAP</a:t>
            </a:r>
            <a:endParaRPr lang="en-US" sz="1800" dirty="0"/>
          </a:p>
        </p:txBody>
      </p:sp>
      <p:sp>
        <p:nvSpPr>
          <p:cNvPr id="3" name="gap-line"/>
          <p:cNvSpPr/>
          <p:nvPr/>
        </p:nvSpPr>
        <p:spPr>
          <a:xfrm>
            <a:off x="1005840" y="3154680"/>
            <a:ext cx="9144" cy="0"/>
          </a:xfrm>
          <a:prstGeom prst="line">
            <a:avLst/>
          </a:prstGeom>
          <a:noFill/>
          <a:ln w="38100">
            <a:solidFill>
              <a:srgbClr val="F7931A"/>
            </a:solidFill>
            <a:prstDash val="solid"/>
          </a:ln>
        </p:spPr>
      </p:sp>
      <p:sp>
        <p:nvSpPr>
          <p:cNvPr id="4" name="gap-start"/>
          <p:cNvSpPr/>
          <p:nvPr/>
        </p:nvSpPr>
        <p:spPr>
          <a:xfrm>
            <a:off x="905256" y="3054096"/>
            <a:ext cx="201168" cy="201168"/>
          </a:xfrm>
          <a:prstGeom prst="ellipse">
            <a:avLst/>
          </a:prstGeom>
          <a:solidFill>
            <a:srgbClr val="F7931A"/>
          </a:solidFill>
          <a:ln/>
        </p:spPr>
      </p:sp>
      <p:sp>
        <p:nvSpPr>
          <p:cNvPr id="5" name="gap-from"/>
          <p:cNvSpPr txBox="1"/>
          <p:nvPr/>
        </p:nvSpPr>
        <p:spPr>
          <a:xfrm>
            <a:off x="1005840" y="3429000"/>
            <a:ext cx="3657600" cy="640080"/>
          </a:xfrm>
          <a:prstGeom prst="rect">
            <a:avLst/>
          </a:prstGeom>
          <a:noFill/>
          <a:ln/>
        </p:spPr>
        <p:txBody>
          <a:bodyPr wrap="square" lIns="0" tIns="0" rIns="0" bIns="0" rtlCol="0" anchor="t"/>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Feb 2, 2008</a:t>
            </a:r>
            <a:endParaRPr lang="en-US" sz="4000" dirty="0"/>
          </a:p>
        </p:txBody>
      </p:sp>
      <p:sp>
        <p:nvSpPr>
          <p:cNvPr id="6" name="gap-from-note"/>
          <p:cNvSpPr txBox="1"/>
          <p:nvPr/>
        </p:nvSpPr>
        <p:spPr>
          <a:xfrm>
            <a:off x="1005840" y="4069080"/>
            <a:ext cx="3657600" cy="365760"/>
          </a:xfrm>
          <a:prstGeom prst="rect">
            <a:avLst/>
          </a:prstGeom>
          <a:noFill/>
          <a:ln/>
        </p:spPr>
        <p:txBody>
          <a:bodyPr wrap="square" lIns="0" tIns="0" rIns="0" bIns="0" rtlCol="0" anchor="t"/>
          <a:lstStyle/>
          <a:p>
            <a:pPr algn="l"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last recorded commit</a:t>
            </a:r>
            <a:endParaRPr lang="en-US" sz="2000" dirty="0"/>
          </a:p>
        </p:txBody>
      </p:sp>
      <p:sp>
        <p:nvSpPr>
          <p:cNvPr id="7" name="caption"/>
          <p:cNvSpPr txBox="1"/>
          <p:nvPr/>
        </p:nvSpPr>
        <p:spPr>
          <a:xfrm>
            <a:off x="914400" y="5257800"/>
            <a:ext cx="10362895" cy="320040"/>
          </a:xfrm>
          <a:prstGeom prst="rect">
            <a:avLst/>
          </a:prstGeom>
          <a:noFill/>
          <a:ln/>
        </p:spPr>
        <p:txBody>
          <a:bodyPr wrap="square" lIns="0" tIns="0" rIns="0" bIns="0" rtlCol="0" anchor="t"/>
          <a:lstStyle/>
          <a:p>
            <a:pPr algn="l" indent="0" marL="0">
              <a:buNone/>
            </a:pPr>
            <a:r>
              <a:rPr lang="en-US" sz="1600" dirty="0">
                <a:solidFill>
                  <a:srgbClr val="8E8E93"/>
                </a:solidFill>
                <a:latin typeface="Helvetica Neue Light" pitchFamily="34" charset="0"/>
                <a:ea typeface="Helvetica Neue Light" pitchFamily="34" charset="-122"/>
                <a:cs typeface="Helvetica Neue Light" pitchFamily="34" charset="-120"/>
              </a:rPr>
              <a:t>Reported by Ben Sigman. Individual SVN revisions require independent verification.</a:t>
            </a:r>
            <a:endParaRPr lang="en-US" sz="1600" dirty="0"/>
          </a:p>
        </p:txBody>
      </p:sp>
      <p:sp>
        <p:nvSpPr>
          <p:cNvPr id="8" name="timeline"/>
          <p:cNvSpPr/>
          <p:nvPr/>
        </p:nvSpPr>
        <p:spPr>
          <a:xfrm>
            <a:off x="914400" y="6199632"/>
            <a:ext cx="10362895" cy="0"/>
          </a:xfrm>
          <a:prstGeom prst="line">
            <a:avLst/>
          </a:prstGeom>
          <a:noFill/>
          <a:ln w="12700">
            <a:solidFill>
              <a:srgbClr val="2C2C2E"/>
            </a:solidFill>
            <a:prstDash val="solid"/>
          </a:ln>
        </p:spPr>
      </p:sp>
      <p:sp>
        <p:nvSpPr>
          <p:cNvPr id="9"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10"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11" name="timeline-now"/>
          <p:cNvSpPr/>
          <p:nvPr/>
        </p:nvSpPr>
        <p:spPr>
          <a:xfrm>
            <a:off x="9762119" y="6140196"/>
            <a:ext cx="118872" cy="118872"/>
          </a:xfrm>
          <a:prstGeom prst="ellipse">
            <a:avLst/>
          </a:prstGeom>
          <a:solidFill>
            <a:srgbClr val="F7931A"/>
          </a:solidFill>
          <a:ln/>
        </p:spPr>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kicker"/>
          <p:cNvSpPr txBox="1"/>
          <p:nvPr/>
        </p:nvSpPr>
        <p:spPr>
          <a:xfrm>
            <a:off x="914400" y="914400"/>
            <a:ext cx="91440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CRYPTO++ · REPORTED COMMIT GAP</a:t>
            </a:r>
            <a:endParaRPr lang="en-US" sz="1800" dirty="0"/>
          </a:p>
        </p:txBody>
      </p:sp>
      <p:sp>
        <p:nvSpPr>
          <p:cNvPr id="3" name="gap-line"/>
          <p:cNvSpPr/>
          <p:nvPr/>
        </p:nvSpPr>
        <p:spPr>
          <a:xfrm>
            <a:off x="1005840" y="3154680"/>
            <a:ext cx="10180015" cy="0"/>
          </a:xfrm>
          <a:prstGeom prst="line">
            <a:avLst/>
          </a:prstGeom>
          <a:noFill/>
          <a:ln w="38100">
            <a:solidFill>
              <a:srgbClr val="F7931A"/>
            </a:solidFill>
            <a:prstDash val="solid"/>
          </a:ln>
        </p:spPr>
      </p:sp>
      <p:sp>
        <p:nvSpPr>
          <p:cNvPr id="4" name="gap-start"/>
          <p:cNvSpPr/>
          <p:nvPr/>
        </p:nvSpPr>
        <p:spPr>
          <a:xfrm>
            <a:off x="905256" y="3054096"/>
            <a:ext cx="201168" cy="201168"/>
          </a:xfrm>
          <a:prstGeom prst="ellipse">
            <a:avLst/>
          </a:prstGeom>
          <a:solidFill>
            <a:srgbClr val="F7931A"/>
          </a:solidFill>
          <a:ln/>
        </p:spPr>
      </p:sp>
      <p:sp>
        <p:nvSpPr>
          <p:cNvPr id="5" name="gap-from"/>
          <p:cNvSpPr txBox="1"/>
          <p:nvPr/>
        </p:nvSpPr>
        <p:spPr>
          <a:xfrm>
            <a:off x="1005840" y="3429000"/>
            <a:ext cx="3657600" cy="640080"/>
          </a:xfrm>
          <a:prstGeom prst="rect">
            <a:avLst/>
          </a:prstGeom>
          <a:noFill/>
          <a:ln/>
        </p:spPr>
        <p:txBody>
          <a:bodyPr wrap="square" lIns="0" tIns="0" rIns="0" bIns="0" rtlCol="0" anchor="t"/>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Feb 2, 2008</a:t>
            </a:r>
            <a:endParaRPr lang="en-US" sz="4000" dirty="0"/>
          </a:p>
        </p:txBody>
      </p:sp>
      <p:sp>
        <p:nvSpPr>
          <p:cNvPr id="6" name="gap-from-note"/>
          <p:cNvSpPr txBox="1"/>
          <p:nvPr/>
        </p:nvSpPr>
        <p:spPr>
          <a:xfrm>
            <a:off x="1005840" y="4069080"/>
            <a:ext cx="3657600" cy="365760"/>
          </a:xfrm>
          <a:prstGeom prst="rect">
            <a:avLst/>
          </a:prstGeom>
          <a:noFill/>
          <a:ln/>
        </p:spPr>
        <p:txBody>
          <a:bodyPr wrap="square" lIns="0" tIns="0" rIns="0" bIns="0" rtlCol="0" anchor="t"/>
          <a:lstStyle/>
          <a:p>
            <a:pPr algn="l"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last recorded commit</a:t>
            </a:r>
            <a:endParaRPr lang="en-US" sz="2000" dirty="0"/>
          </a:p>
        </p:txBody>
      </p:sp>
      <p:sp>
        <p:nvSpPr>
          <p:cNvPr id="7" name="gap-end"/>
          <p:cNvSpPr/>
          <p:nvPr/>
        </p:nvSpPr>
        <p:spPr>
          <a:xfrm>
            <a:off x="11085271" y="3054096"/>
            <a:ext cx="201168" cy="201168"/>
          </a:xfrm>
          <a:prstGeom prst="ellipse">
            <a:avLst/>
          </a:prstGeom>
          <a:solidFill>
            <a:srgbClr val="F7931A"/>
          </a:solidFill>
          <a:ln/>
        </p:spPr>
      </p:sp>
      <p:sp>
        <p:nvSpPr>
          <p:cNvPr id="8" name="gap-to"/>
          <p:cNvSpPr txBox="1"/>
          <p:nvPr/>
        </p:nvSpPr>
        <p:spPr>
          <a:xfrm>
            <a:off x="7528255" y="3429000"/>
            <a:ext cx="3657600" cy="640080"/>
          </a:xfrm>
          <a:prstGeom prst="rect">
            <a:avLst/>
          </a:prstGeom>
          <a:noFill/>
          <a:ln/>
        </p:spPr>
        <p:txBody>
          <a:bodyPr wrap="square" lIns="0" tIns="0" rIns="0" bIns="0" rtlCol="0" anchor="t"/>
          <a:lstStyle/>
          <a:p>
            <a:pPr algn="r" indent="0" marL="0">
              <a:buNone/>
            </a:pPr>
            <a:r>
              <a:rPr lang="en-US" sz="4000" b="1" dirty="0">
                <a:solidFill>
                  <a:srgbClr val="FFFFFF"/>
                </a:solidFill>
                <a:latin typeface="Helvetica Neue" pitchFamily="34" charset="0"/>
                <a:ea typeface="Helvetica Neue" pitchFamily="34" charset="-122"/>
                <a:cs typeface="Helvetica Neue" pitchFamily="34" charset="-120"/>
              </a:rPr>
              <a:t>Nov 21, 2008</a:t>
            </a:r>
            <a:endParaRPr lang="en-US" sz="4000" dirty="0"/>
          </a:p>
        </p:txBody>
      </p:sp>
      <p:sp>
        <p:nvSpPr>
          <p:cNvPr id="9" name="gap-to-note"/>
          <p:cNvSpPr txBox="1"/>
          <p:nvPr/>
        </p:nvSpPr>
        <p:spPr>
          <a:xfrm>
            <a:off x="7528255" y="4069080"/>
            <a:ext cx="365760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commits resume</a:t>
            </a:r>
            <a:endParaRPr lang="en-US" sz="2000" dirty="0"/>
          </a:p>
        </p:txBody>
      </p:sp>
      <p:sp>
        <p:nvSpPr>
          <p:cNvPr id="10" name="gap-length"/>
          <p:cNvSpPr txBox="1"/>
          <p:nvPr/>
        </p:nvSpPr>
        <p:spPr>
          <a:xfrm>
            <a:off x="4267048" y="3429000"/>
            <a:ext cx="3657600" cy="640080"/>
          </a:xfrm>
          <a:prstGeom prst="rect">
            <a:avLst/>
          </a:prstGeom>
          <a:noFill/>
          <a:ln/>
        </p:spPr>
        <p:txBody>
          <a:bodyPr wrap="square" lIns="0" tIns="0" rIns="0" bIns="0" rtlCol="0" anchor="t"/>
          <a:lstStyle/>
          <a:p>
            <a:pPr algn="ctr" indent="0" marL="0">
              <a:buNone/>
            </a:pPr>
            <a:r>
              <a:rPr lang="en-US" sz="4000" b="1" dirty="0">
                <a:solidFill>
                  <a:srgbClr val="F7931A"/>
                </a:solidFill>
                <a:latin typeface="Helvetica Neue" pitchFamily="34" charset="0"/>
                <a:ea typeface="Helvetica Neue" pitchFamily="34" charset="-122"/>
                <a:cs typeface="Helvetica Neue" pitchFamily="34" charset="-120"/>
              </a:rPr>
              <a:t>9+ months</a:t>
            </a:r>
            <a:endParaRPr lang="en-US" sz="4000" dirty="0"/>
          </a:p>
        </p:txBody>
      </p:sp>
      <p:sp>
        <p:nvSpPr>
          <p:cNvPr id="11" name="caption"/>
          <p:cNvSpPr txBox="1"/>
          <p:nvPr/>
        </p:nvSpPr>
        <p:spPr>
          <a:xfrm>
            <a:off x="914400" y="5257800"/>
            <a:ext cx="10362895" cy="320040"/>
          </a:xfrm>
          <a:prstGeom prst="rect">
            <a:avLst/>
          </a:prstGeom>
          <a:noFill/>
          <a:ln/>
        </p:spPr>
        <p:txBody>
          <a:bodyPr wrap="square" lIns="0" tIns="0" rIns="0" bIns="0" rtlCol="0" anchor="t"/>
          <a:lstStyle/>
          <a:p>
            <a:pPr algn="l" indent="0" marL="0">
              <a:buNone/>
            </a:pPr>
            <a:r>
              <a:rPr lang="en-US" sz="1600" dirty="0">
                <a:solidFill>
                  <a:srgbClr val="8E8E93"/>
                </a:solidFill>
                <a:latin typeface="Helvetica Neue Light" pitchFamily="34" charset="0"/>
                <a:ea typeface="Helvetica Neue Light" pitchFamily="34" charset="-122"/>
                <a:cs typeface="Helvetica Neue Light" pitchFamily="34" charset="-120"/>
              </a:rPr>
              <a:t>Reported by Ben Sigman. Individual SVN revisions require independent verification.</a:t>
            </a:r>
            <a:endParaRPr lang="en-US" sz="1600" dirty="0"/>
          </a:p>
        </p:txBody>
      </p:sp>
      <p:sp>
        <p:nvSpPr>
          <p:cNvPr id="12" name="timeline"/>
          <p:cNvSpPr/>
          <p:nvPr/>
        </p:nvSpPr>
        <p:spPr>
          <a:xfrm>
            <a:off x="914400" y="6199632"/>
            <a:ext cx="10362895" cy="0"/>
          </a:xfrm>
          <a:prstGeom prst="line">
            <a:avLst/>
          </a:prstGeom>
          <a:noFill/>
          <a:ln w="12700">
            <a:solidFill>
              <a:srgbClr val="2C2C2E"/>
            </a:solidFill>
            <a:prstDash val="solid"/>
          </a:ln>
        </p:spPr>
      </p:sp>
      <p:sp>
        <p:nvSpPr>
          <p:cNvPr id="13"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14"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15" name="timeline-now"/>
          <p:cNvSpPr/>
          <p:nvPr/>
        </p:nvSpPr>
        <p:spPr>
          <a:xfrm>
            <a:off x="9959508" y="6140196"/>
            <a:ext cx="118872" cy="118872"/>
          </a:xfrm>
          <a:prstGeom prst="ellipse">
            <a:avLst/>
          </a:prstGeom>
          <a:solidFill>
            <a:srgbClr val="F7931A"/>
          </a:solidFill>
          <a:ln/>
        </p:spPr>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kicker"/>
          <p:cNvSpPr txBox="1"/>
          <p:nvPr/>
        </p:nvSpPr>
        <p:spPr>
          <a:xfrm>
            <a:off x="914400" y="914400"/>
            <a:ext cx="91440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CRYPTO++ · REPORTED COMMIT GAP</a:t>
            </a:r>
            <a:endParaRPr lang="en-US" sz="1800" dirty="0"/>
          </a:p>
        </p:txBody>
      </p:sp>
      <p:sp>
        <p:nvSpPr>
          <p:cNvPr id="3" name="gap-line"/>
          <p:cNvSpPr/>
          <p:nvPr/>
        </p:nvSpPr>
        <p:spPr>
          <a:xfrm>
            <a:off x="1005840" y="3154680"/>
            <a:ext cx="10180015" cy="0"/>
          </a:xfrm>
          <a:prstGeom prst="line">
            <a:avLst/>
          </a:prstGeom>
          <a:noFill/>
          <a:ln w="38100">
            <a:solidFill>
              <a:srgbClr val="F7931A"/>
            </a:solidFill>
            <a:prstDash val="solid"/>
          </a:ln>
        </p:spPr>
      </p:sp>
      <p:sp>
        <p:nvSpPr>
          <p:cNvPr id="4" name="gap-start"/>
          <p:cNvSpPr/>
          <p:nvPr/>
        </p:nvSpPr>
        <p:spPr>
          <a:xfrm>
            <a:off x="905256" y="3054096"/>
            <a:ext cx="201168" cy="201168"/>
          </a:xfrm>
          <a:prstGeom prst="ellipse">
            <a:avLst/>
          </a:prstGeom>
          <a:solidFill>
            <a:srgbClr val="F7931A"/>
          </a:solidFill>
          <a:ln/>
        </p:spPr>
      </p:sp>
      <p:sp>
        <p:nvSpPr>
          <p:cNvPr id="5" name="gap-from"/>
          <p:cNvSpPr txBox="1"/>
          <p:nvPr/>
        </p:nvSpPr>
        <p:spPr>
          <a:xfrm>
            <a:off x="1005840" y="3429000"/>
            <a:ext cx="3657600" cy="640080"/>
          </a:xfrm>
          <a:prstGeom prst="rect">
            <a:avLst/>
          </a:prstGeom>
          <a:noFill/>
          <a:ln/>
        </p:spPr>
        <p:txBody>
          <a:bodyPr wrap="square" lIns="0" tIns="0" rIns="0" bIns="0" rtlCol="0" anchor="t"/>
          <a:lstStyle/>
          <a:p>
            <a:pPr algn="l" indent="0" marL="0">
              <a:buNone/>
            </a:pPr>
            <a:r>
              <a:rPr lang="en-US" sz="4000" b="1" dirty="0">
                <a:solidFill>
                  <a:srgbClr val="FFFFFF"/>
                </a:solidFill>
                <a:latin typeface="Helvetica Neue" pitchFamily="34" charset="0"/>
                <a:ea typeface="Helvetica Neue" pitchFamily="34" charset="-122"/>
                <a:cs typeface="Helvetica Neue" pitchFamily="34" charset="-120"/>
              </a:rPr>
              <a:t>Feb 2, 2008</a:t>
            </a:r>
            <a:endParaRPr lang="en-US" sz="4000" dirty="0"/>
          </a:p>
        </p:txBody>
      </p:sp>
      <p:sp>
        <p:nvSpPr>
          <p:cNvPr id="6" name="gap-from-note"/>
          <p:cNvSpPr txBox="1"/>
          <p:nvPr/>
        </p:nvSpPr>
        <p:spPr>
          <a:xfrm>
            <a:off x="1005840" y="4069080"/>
            <a:ext cx="3657600" cy="365760"/>
          </a:xfrm>
          <a:prstGeom prst="rect">
            <a:avLst/>
          </a:prstGeom>
          <a:noFill/>
          <a:ln/>
        </p:spPr>
        <p:txBody>
          <a:bodyPr wrap="square" lIns="0" tIns="0" rIns="0" bIns="0" rtlCol="0" anchor="t"/>
          <a:lstStyle/>
          <a:p>
            <a:pPr algn="l"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last recorded commit</a:t>
            </a:r>
            <a:endParaRPr lang="en-US" sz="2000" dirty="0"/>
          </a:p>
        </p:txBody>
      </p:sp>
      <p:sp>
        <p:nvSpPr>
          <p:cNvPr id="7" name="gap-end"/>
          <p:cNvSpPr/>
          <p:nvPr/>
        </p:nvSpPr>
        <p:spPr>
          <a:xfrm>
            <a:off x="11085271" y="3054096"/>
            <a:ext cx="201168" cy="201168"/>
          </a:xfrm>
          <a:prstGeom prst="ellipse">
            <a:avLst/>
          </a:prstGeom>
          <a:solidFill>
            <a:srgbClr val="F7931A"/>
          </a:solidFill>
          <a:ln/>
        </p:spPr>
      </p:sp>
      <p:sp>
        <p:nvSpPr>
          <p:cNvPr id="8" name="gap-to"/>
          <p:cNvSpPr txBox="1"/>
          <p:nvPr/>
        </p:nvSpPr>
        <p:spPr>
          <a:xfrm>
            <a:off x="7528255" y="3429000"/>
            <a:ext cx="3657600" cy="640080"/>
          </a:xfrm>
          <a:prstGeom prst="rect">
            <a:avLst/>
          </a:prstGeom>
          <a:noFill/>
          <a:ln/>
        </p:spPr>
        <p:txBody>
          <a:bodyPr wrap="square" lIns="0" tIns="0" rIns="0" bIns="0" rtlCol="0" anchor="t"/>
          <a:lstStyle/>
          <a:p>
            <a:pPr algn="r" indent="0" marL="0">
              <a:buNone/>
            </a:pPr>
            <a:r>
              <a:rPr lang="en-US" sz="4000" b="1" dirty="0">
                <a:solidFill>
                  <a:srgbClr val="FFFFFF"/>
                </a:solidFill>
                <a:latin typeface="Helvetica Neue" pitchFamily="34" charset="0"/>
                <a:ea typeface="Helvetica Neue" pitchFamily="34" charset="-122"/>
                <a:cs typeface="Helvetica Neue" pitchFamily="34" charset="-120"/>
              </a:rPr>
              <a:t>Nov 21, 2008</a:t>
            </a:r>
            <a:endParaRPr lang="en-US" sz="4000" dirty="0"/>
          </a:p>
        </p:txBody>
      </p:sp>
      <p:sp>
        <p:nvSpPr>
          <p:cNvPr id="9" name="gap-to-note"/>
          <p:cNvSpPr txBox="1"/>
          <p:nvPr/>
        </p:nvSpPr>
        <p:spPr>
          <a:xfrm>
            <a:off x="7528255" y="4069080"/>
            <a:ext cx="365760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commits resume</a:t>
            </a:r>
            <a:endParaRPr lang="en-US" sz="2000" dirty="0"/>
          </a:p>
        </p:txBody>
      </p:sp>
      <p:sp>
        <p:nvSpPr>
          <p:cNvPr id="10" name="gap-length"/>
          <p:cNvSpPr txBox="1"/>
          <p:nvPr/>
        </p:nvSpPr>
        <p:spPr>
          <a:xfrm>
            <a:off x="4267048" y="3429000"/>
            <a:ext cx="3657600" cy="640080"/>
          </a:xfrm>
          <a:prstGeom prst="rect">
            <a:avLst/>
          </a:prstGeom>
          <a:noFill/>
          <a:ln/>
        </p:spPr>
        <p:txBody>
          <a:bodyPr wrap="square" lIns="0" tIns="0" rIns="0" bIns="0" rtlCol="0" anchor="t"/>
          <a:lstStyle/>
          <a:p>
            <a:pPr algn="ctr" indent="0" marL="0">
              <a:buNone/>
            </a:pPr>
            <a:r>
              <a:rPr lang="en-US" sz="4000" b="1" dirty="0">
                <a:solidFill>
                  <a:srgbClr val="F7931A"/>
                </a:solidFill>
                <a:latin typeface="Helvetica Neue" pitchFamily="34" charset="0"/>
                <a:ea typeface="Helvetica Neue" pitchFamily="34" charset="-122"/>
                <a:cs typeface="Helvetica Neue" pitchFamily="34" charset="-120"/>
              </a:rPr>
              <a:t>9+ months</a:t>
            </a:r>
            <a:endParaRPr lang="en-US" sz="4000" dirty="0"/>
          </a:p>
        </p:txBody>
      </p:sp>
      <p:sp>
        <p:nvSpPr>
          <p:cNvPr id="11" name="event0-leader"/>
          <p:cNvSpPr/>
          <p:nvPr/>
        </p:nvSpPr>
        <p:spPr>
          <a:xfrm>
            <a:off x="7954656" y="2743200"/>
            <a:ext cx="914" cy="301752"/>
          </a:xfrm>
          <a:prstGeom prst="line">
            <a:avLst/>
          </a:prstGeom>
          <a:noFill/>
          <a:ln w="12700">
            <a:solidFill>
              <a:srgbClr val="AEAEB2"/>
            </a:solidFill>
            <a:prstDash val="solid"/>
          </a:ln>
        </p:spPr>
      </p:sp>
      <p:sp>
        <p:nvSpPr>
          <p:cNvPr id="12" name="event0-dot"/>
          <p:cNvSpPr/>
          <p:nvPr/>
        </p:nvSpPr>
        <p:spPr>
          <a:xfrm>
            <a:off x="7881504" y="3081528"/>
            <a:ext cx="146304" cy="146304"/>
          </a:xfrm>
          <a:prstGeom prst="ellipse">
            <a:avLst/>
          </a:prstGeom>
          <a:solidFill>
            <a:srgbClr val="FFFFFF"/>
          </a:solidFill>
          <a:ln/>
        </p:spPr>
      </p:sp>
      <p:sp>
        <p:nvSpPr>
          <p:cNvPr id="13" name="event0"/>
          <p:cNvSpPr txBox="1"/>
          <p:nvPr/>
        </p:nvSpPr>
        <p:spPr>
          <a:xfrm>
            <a:off x="3382656" y="2331720"/>
            <a:ext cx="4572000" cy="365760"/>
          </a:xfrm>
          <a:prstGeom prst="rect">
            <a:avLst/>
          </a:prstGeom>
          <a:noFill/>
          <a:ln/>
        </p:spPr>
        <p:txBody>
          <a:bodyPr wrap="square" lIns="0" tIns="0" rIns="0" bIns="0" rtlCol="0" anchor="t"/>
          <a:lstStyle/>
          <a:p>
            <a:pPr algn="r" indent="0" marL="0">
              <a:buNone/>
            </a:pPr>
            <a:r>
              <a:rPr lang="en-US" sz="2000" dirty="0">
                <a:solidFill>
                  <a:srgbClr val="FFFFFF"/>
                </a:solidFill>
                <a:latin typeface="Helvetica Neue Light" pitchFamily="34" charset="0"/>
                <a:ea typeface="Helvetica Neue Light" pitchFamily="34" charset="-122"/>
                <a:cs typeface="Helvetica Neue Light" pitchFamily="34" charset="-120"/>
              </a:rPr>
              <a:t>Aug 20 · Satoshi writes to Adam Back</a:t>
            </a:r>
            <a:endParaRPr lang="en-US" sz="2000" dirty="0"/>
          </a:p>
        </p:txBody>
      </p:sp>
      <p:sp>
        <p:nvSpPr>
          <p:cNvPr id="14" name="event1-leader"/>
          <p:cNvSpPr/>
          <p:nvPr/>
        </p:nvSpPr>
        <p:spPr>
          <a:xfrm>
            <a:off x="10456230" y="2194560"/>
            <a:ext cx="914" cy="850392"/>
          </a:xfrm>
          <a:prstGeom prst="line">
            <a:avLst/>
          </a:prstGeom>
          <a:noFill/>
          <a:ln w="12700">
            <a:solidFill>
              <a:srgbClr val="AEAEB2"/>
            </a:solidFill>
            <a:prstDash val="solid"/>
          </a:ln>
        </p:spPr>
      </p:sp>
      <p:sp>
        <p:nvSpPr>
          <p:cNvPr id="15" name="event1-dot"/>
          <p:cNvSpPr/>
          <p:nvPr/>
        </p:nvSpPr>
        <p:spPr>
          <a:xfrm>
            <a:off x="10383078" y="3081528"/>
            <a:ext cx="146304" cy="146304"/>
          </a:xfrm>
          <a:prstGeom prst="ellipse">
            <a:avLst/>
          </a:prstGeom>
          <a:solidFill>
            <a:srgbClr val="FFFFFF"/>
          </a:solidFill>
          <a:ln/>
        </p:spPr>
      </p:sp>
      <p:sp>
        <p:nvSpPr>
          <p:cNvPr id="16" name="event1"/>
          <p:cNvSpPr txBox="1"/>
          <p:nvPr/>
        </p:nvSpPr>
        <p:spPr>
          <a:xfrm>
            <a:off x="5884230" y="1783080"/>
            <a:ext cx="4572000" cy="365760"/>
          </a:xfrm>
          <a:prstGeom prst="rect">
            <a:avLst/>
          </a:prstGeom>
          <a:noFill/>
          <a:ln/>
        </p:spPr>
        <p:txBody>
          <a:bodyPr wrap="square" lIns="0" tIns="0" rIns="0" bIns="0" rtlCol="0" anchor="t"/>
          <a:lstStyle/>
          <a:p>
            <a:pPr algn="r" indent="0" marL="0">
              <a:buNone/>
            </a:pPr>
            <a:r>
              <a:rPr lang="en-US" sz="2000" dirty="0">
                <a:solidFill>
                  <a:srgbClr val="FFFFFF"/>
                </a:solidFill>
                <a:latin typeface="Helvetica Neue Light" pitchFamily="34" charset="0"/>
                <a:ea typeface="Helvetica Neue Light" pitchFamily="34" charset="-122"/>
                <a:cs typeface="Helvetica Neue Light" pitchFamily="34" charset="-120"/>
              </a:rPr>
              <a:t>Oct 31 · The whitepaper</a:t>
            </a:r>
            <a:endParaRPr lang="en-US" sz="2000" dirty="0"/>
          </a:p>
        </p:txBody>
      </p:sp>
      <p:sp>
        <p:nvSpPr>
          <p:cNvPr id="17" name="caption"/>
          <p:cNvSpPr txBox="1"/>
          <p:nvPr/>
        </p:nvSpPr>
        <p:spPr>
          <a:xfrm>
            <a:off x="914400" y="5257800"/>
            <a:ext cx="10362895" cy="320040"/>
          </a:xfrm>
          <a:prstGeom prst="rect">
            <a:avLst/>
          </a:prstGeom>
          <a:noFill/>
          <a:ln/>
        </p:spPr>
        <p:txBody>
          <a:bodyPr wrap="square" lIns="0" tIns="0" rIns="0" bIns="0" rtlCol="0" anchor="t"/>
          <a:lstStyle/>
          <a:p>
            <a:pPr algn="l" indent="0" marL="0">
              <a:buNone/>
            </a:pPr>
            <a:r>
              <a:rPr lang="en-US" sz="1600" dirty="0">
                <a:solidFill>
                  <a:srgbClr val="8E8E93"/>
                </a:solidFill>
                <a:latin typeface="Helvetica Neue Light" pitchFamily="34" charset="0"/>
                <a:ea typeface="Helvetica Neue Light" pitchFamily="34" charset="-122"/>
                <a:cs typeface="Helvetica Neue Light" pitchFamily="34" charset="-120"/>
              </a:rPr>
              <a:t>Reported by Ben Sigman. Individual SVN revisions require independent verification.</a:t>
            </a:r>
            <a:endParaRPr lang="en-US" sz="1600" dirty="0"/>
          </a:p>
        </p:txBody>
      </p:sp>
      <p:sp>
        <p:nvSpPr>
          <p:cNvPr id="18" name="timeline"/>
          <p:cNvSpPr/>
          <p:nvPr/>
        </p:nvSpPr>
        <p:spPr>
          <a:xfrm>
            <a:off x="914400" y="6199632"/>
            <a:ext cx="10362895" cy="0"/>
          </a:xfrm>
          <a:prstGeom prst="line">
            <a:avLst/>
          </a:prstGeom>
          <a:noFill/>
          <a:ln w="12700">
            <a:solidFill>
              <a:srgbClr val="2C2C2E"/>
            </a:solidFill>
            <a:prstDash val="solid"/>
          </a:ln>
        </p:spPr>
      </p:sp>
      <p:sp>
        <p:nvSpPr>
          <p:cNvPr id="19"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20"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21" name="timeline-now"/>
          <p:cNvSpPr/>
          <p:nvPr/>
        </p:nvSpPr>
        <p:spPr>
          <a:xfrm>
            <a:off x="9959508" y="6140196"/>
            <a:ext cx="118872" cy="118872"/>
          </a:xfrm>
          <a:prstGeom prst="ellipse">
            <a:avLst/>
          </a:prstGeom>
          <a:solidFill>
            <a:srgbClr val="F7931A"/>
          </a:solidFill>
          <a:ln/>
        </p:spPr>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20, 2008</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A blog goes</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into</a:t>
            </a:r>
            <a:pPr indent="0" marL="0">
              <a:buNone/>
            </a:pPr>
            <a:r>
              <a:rPr lang="en-US" sz="9200" b="1" dirty="0">
                <a:solidFill>
                  <a:srgbClr val="F7931A"/>
                </a:solidFill>
                <a:latin typeface="Helvetica Neue" pitchFamily="34" charset="0"/>
                <a:ea typeface="Helvetica Neue" pitchFamily="34" charset="-122"/>
                <a:cs typeface="Helvetica Neue" pitchFamily="34" charset="-120"/>
              </a:rPr>
              <a:t> reruns</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Nick Szabo’s. The same day, Satoshi writes</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to Adam Back. Striking — but not evidence.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95356" y="6140196"/>
            <a:ext cx="118872" cy="118872"/>
          </a:xfrm>
          <a:prstGeom prst="ellipse">
            <a:avLst/>
          </a:prstGeom>
          <a:solidFill>
            <a:srgbClr val="F7931A"/>
          </a:solidFill>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VI</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Bitcoin</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2008 – 2009</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9944923" y="6199632"/>
            <a:ext cx="172715" cy="0"/>
          </a:xfrm>
          <a:prstGeom prst="line">
            <a:avLst/>
          </a:prstGeom>
          <a:noFill/>
          <a:ln w="31750">
            <a:solidFill>
              <a:srgbClr val="F7931A"/>
            </a:solidFill>
            <a:prstDash val="solid"/>
          </a:ln>
        </p:spPr>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20, 2008 · A STRANGER WRITES</a:t>
            </a:r>
            <a:endParaRPr lang="en-US" sz="1800" dirty="0"/>
          </a:p>
          <a:p>
            <a:pPr algn="l" indent="0" marL="0">
              <a:lnSpc>
                <a:spcPct val="108000"/>
              </a:lnSpc>
              <a:spcBef>
                <a:spcPts val="2400"/>
              </a:spcBef>
              <a:buNone/>
            </a:pPr>
            <a:r>
              <a:rPr lang="en-US" sz="4600" dirty="0">
                <a:solidFill>
                  <a:srgbClr val="FFFFFF"/>
                </a:solidFill>
                <a:latin typeface="Helvetica Neue Light" pitchFamily="34" charset="0"/>
                <a:ea typeface="Helvetica Neue Light" pitchFamily="34" charset="-122"/>
                <a:cs typeface="Helvetica Neue Light" pitchFamily="34" charset="-120"/>
              </a:rPr>
              <a:t>“I’m getting ready to release a</a:t>
            </a:r>
            <a:endParaRPr lang="en-US" sz="1800" dirty="0"/>
          </a:p>
          <a:p>
            <a:pPr algn="l" indent="0" marL="0">
              <a:lnSpc>
                <a:spcPct val="108000"/>
              </a:lnSpc>
              <a:buNone/>
            </a:pPr>
            <a:r>
              <a:rPr lang="en-US" sz="4600" dirty="0">
                <a:solidFill>
                  <a:srgbClr val="FFFFFF"/>
                </a:solidFill>
                <a:latin typeface="Helvetica Neue Light" pitchFamily="34" charset="0"/>
                <a:ea typeface="Helvetica Neue Light" pitchFamily="34" charset="-122"/>
                <a:cs typeface="Helvetica Neue Light" pitchFamily="34" charset="-120"/>
              </a:rPr>
              <a:t>paper that references your</a:t>
            </a:r>
            <a:endParaRPr lang="en-US" sz="1800" dirty="0"/>
          </a:p>
          <a:p>
            <a:pPr algn="l" indent="0" marL="0">
              <a:lnSpc>
                <a:spcPct val="108000"/>
              </a:lnSpc>
              <a:buNone/>
            </a:pPr>
            <a:r>
              <a:rPr lang="en-US" sz="4600" dirty="0">
                <a:solidFill>
                  <a:srgbClr val="F7931A"/>
                </a:solidFill>
                <a:latin typeface="Helvetica Neue Medium" pitchFamily="34" charset="0"/>
                <a:ea typeface="Helvetica Neue Medium" pitchFamily="34" charset="-122"/>
                <a:cs typeface="Helvetica Neue Medium" pitchFamily="34" charset="-120"/>
              </a:rPr>
              <a:t>Hashcash</a:t>
            </a:r>
            <a:pPr indent="0" marL="0">
              <a:buNone/>
            </a:pPr>
            <a:r>
              <a:rPr lang="en-US" sz="4600" dirty="0">
                <a:solidFill>
                  <a:srgbClr val="FFFFFF"/>
                </a:solidFill>
                <a:latin typeface="Helvetica Neue Light" pitchFamily="34" charset="0"/>
                <a:ea typeface="Helvetica Neue Light" pitchFamily="34" charset="-122"/>
                <a:cs typeface="Helvetica Neue Light" pitchFamily="34" charset="-120"/>
              </a:rPr>
              <a:t> paper and I wanted to</a:t>
            </a:r>
            <a:endParaRPr lang="en-US" sz="1800" dirty="0"/>
          </a:p>
          <a:p>
            <a:pPr algn="l" indent="0" marL="0">
              <a:lnSpc>
                <a:spcPct val="108000"/>
              </a:lnSpc>
              <a:buNone/>
            </a:pPr>
            <a:r>
              <a:rPr lang="en-US" sz="4600" dirty="0">
                <a:solidFill>
                  <a:srgbClr val="FFFFFF"/>
                </a:solidFill>
                <a:latin typeface="Helvetica Neue Light" pitchFamily="34" charset="0"/>
                <a:ea typeface="Helvetica Neue Light" pitchFamily="34" charset="-122"/>
                <a:cs typeface="Helvetica Neue Light" pitchFamily="34" charset="-120"/>
              </a:rPr>
              <a:t>make sure I have the citation right.”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Satoshi Nakamoto, first email to Adam Back</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95356" y="6140196"/>
            <a:ext cx="118872" cy="118872"/>
          </a:xfrm>
          <a:prstGeom prst="ellipse">
            <a:avLst/>
          </a:prstGeom>
          <a:solidFill>
            <a:srgbClr val="F7931A"/>
          </a:solidFill>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ADAM BACK REPLIES</a:t>
            </a:r>
            <a:endParaRPr lang="en-US" sz="1800" dirty="0"/>
          </a:p>
          <a:p>
            <a:pPr algn="l" indent="0" marL="0">
              <a:lnSpc>
                <a:spcPct val="108000"/>
              </a:lnSpc>
              <a:spcBef>
                <a:spcPts val="2400"/>
              </a:spcBef>
              <a:buNone/>
            </a:pPr>
            <a:r>
              <a:rPr lang="en-US" sz="4600" dirty="0">
                <a:solidFill>
                  <a:srgbClr val="FFFFFF"/>
                </a:solidFill>
                <a:latin typeface="Helvetica Neue Light" pitchFamily="34" charset="0"/>
                <a:ea typeface="Helvetica Neue Light" pitchFamily="34" charset="-122"/>
                <a:cs typeface="Helvetica Neue Light" pitchFamily="34" charset="-120"/>
              </a:rPr>
              <a:t>“You maybe aware of the ‘B-money’</a:t>
            </a:r>
            <a:endParaRPr lang="en-US" sz="1800" dirty="0"/>
          </a:p>
          <a:p>
            <a:pPr algn="l" indent="0" marL="0">
              <a:lnSpc>
                <a:spcPct val="108000"/>
              </a:lnSpc>
              <a:buNone/>
            </a:pPr>
            <a:r>
              <a:rPr lang="en-US" sz="4600" dirty="0">
                <a:solidFill>
                  <a:srgbClr val="FFFFFF"/>
                </a:solidFill>
                <a:latin typeface="Helvetica Neue Light" pitchFamily="34" charset="0"/>
                <a:ea typeface="Helvetica Neue Light" pitchFamily="34" charset="-122"/>
                <a:cs typeface="Helvetica Neue Light" pitchFamily="34" charset="-120"/>
              </a:rPr>
              <a:t>proposal … by</a:t>
            </a:r>
            <a:pPr indent="0" marL="0">
              <a:buNone/>
            </a:pPr>
            <a:r>
              <a:rPr lang="en-US" sz="4600" dirty="0">
                <a:solidFill>
                  <a:srgbClr val="F7931A"/>
                </a:solidFill>
                <a:latin typeface="Helvetica Neue Medium" pitchFamily="34" charset="0"/>
                <a:ea typeface="Helvetica Neue Medium" pitchFamily="34" charset="-122"/>
                <a:cs typeface="Helvetica Neue Medium" pitchFamily="34" charset="-120"/>
              </a:rPr>
              <a:t> Wei Dai</a:t>
            </a:r>
            <a:pPr indent="0" marL="0">
              <a:buNone/>
            </a:pPr>
            <a:r>
              <a:rPr lang="en-US" sz="4600" dirty="0">
                <a:solidFill>
                  <a:srgbClr val="FFFFFF"/>
                </a:solidFill>
                <a:latin typeface="Helvetica Neue Light" pitchFamily="34" charset="0"/>
                <a:ea typeface="Helvetica Neue Light" pitchFamily="34" charset="-122"/>
                <a:cs typeface="Helvetica Neue Light" pitchFamily="34" charset="-120"/>
              </a:rPr>
              <a:t> which sounds</a:t>
            </a:r>
            <a:endParaRPr lang="en-US" sz="1800" dirty="0"/>
          </a:p>
          <a:p>
            <a:pPr algn="l" indent="0" marL="0">
              <a:lnSpc>
                <a:spcPct val="108000"/>
              </a:lnSpc>
              <a:buNone/>
            </a:pPr>
            <a:r>
              <a:rPr lang="en-US" sz="4600" dirty="0">
                <a:solidFill>
                  <a:srgbClr val="FFFFFF"/>
                </a:solidFill>
                <a:latin typeface="Helvetica Neue Light" pitchFamily="34" charset="0"/>
                <a:ea typeface="Helvetica Neue Light" pitchFamily="34" charset="-122"/>
                <a:cs typeface="Helvetica Neue Light" pitchFamily="34" charset="-120"/>
              </a:rPr>
              <a:t>to be somewhat related to your paper.”</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Adam Back, reply to Satoshi</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95356" y="6140196"/>
            <a:ext cx="118872" cy="118872"/>
          </a:xfrm>
          <a:prstGeom prst="ellipse">
            <a:avLst/>
          </a:prstGeom>
          <a:solidFill>
            <a:srgbClr val="F7931A"/>
          </a:solidFill>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21, 2008 · SATOSHI TO ADAM BACK</a:t>
            </a:r>
            <a:endParaRPr lang="en-US" sz="1800" dirty="0"/>
          </a:p>
          <a:p>
            <a:pPr algn="l" indent="0" marL="0">
              <a:lnSpc>
                <a:spcPct val="108000"/>
              </a:lnSpc>
              <a:spcBef>
                <a:spcPts val="2400"/>
              </a:spcBef>
              <a:buNone/>
            </a:pPr>
            <a:r>
              <a:rPr lang="en-US" sz="5400" dirty="0">
                <a:solidFill>
                  <a:srgbClr val="FFFFFF"/>
                </a:solidFill>
                <a:latin typeface="Helvetica Neue Light" pitchFamily="34" charset="0"/>
                <a:ea typeface="Helvetica Neue Light" pitchFamily="34" charset="-122"/>
                <a:cs typeface="Helvetica Neue Light" pitchFamily="34" charset="-120"/>
              </a:rPr>
              <a:t>“Thanks,</a:t>
            </a:r>
            <a:pPr indent="0" marL="0">
              <a:buNone/>
            </a:pPr>
            <a:r>
              <a:rPr lang="en-US" sz="5400" dirty="0">
                <a:solidFill>
                  <a:srgbClr val="F7931A"/>
                </a:solidFill>
                <a:latin typeface="Helvetica Neue Medium" pitchFamily="34" charset="0"/>
                <a:ea typeface="Helvetica Neue Medium" pitchFamily="34" charset="-122"/>
                <a:cs typeface="Helvetica Neue Medium" pitchFamily="34" charset="-120"/>
              </a:rPr>
              <a:t> I wasn’t aware of the</a:t>
            </a:r>
            <a:endParaRPr lang="en-US" sz="1800" dirty="0"/>
          </a:p>
          <a:p>
            <a:pPr algn="l" indent="0" marL="0">
              <a:lnSpc>
                <a:spcPct val="108000"/>
              </a:lnSpc>
              <a:buNone/>
            </a:pPr>
            <a:r>
              <a:rPr lang="en-US" sz="5400" dirty="0">
                <a:solidFill>
                  <a:srgbClr val="F7931A"/>
                </a:solidFill>
                <a:latin typeface="Helvetica Neue Medium" pitchFamily="34" charset="0"/>
                <a:ea typeface="Helvetica Neue Medium" pitchFamily="34" charset="-122"/>
                <a:cs typeface="Helvetica Neue Medium" pitchFamily="34" charset="-120"/>
              </a:rPr>
              <a:t>b-money page</a:t>
            </a:r>
            <a:pPr indent="0" marL="0">
              <a:buNone/>
            </a:pPr>
            <a:r>
              <a:rPr lang="en-US" sz="5400" dirty="0">
                <a:solidFill>
                  <a:srgbClr val="FFFFFF"/>
                </a:solidFill>
                <a:latin typeface="Helvetica Neue Light" pitchFamily="34" charset="0"/>
                <a:ea typeface="Helvetica Neue Light" pitchFamily="34" charset="-122"/>
                <a:cs typeface="Helvetica Neue Light" pitchFamily="34" charset="-120"/>
              </a:rPr>
              <a:t>, but my ideas</a:t>
            </a:r>
            <a:endParaRPr lang="en-US" sz="1800" dirty="0"/>
          </a:p>
          <a:p>
            <a:pPr algn="l" indent="0" marL="0">
              <a:lnSpc>
                <a:spcPct val="108000"/>
              </a:lnSpc>
              <a:buNone/>
            </a:pPr>
            <a:r>
              <a:rPr lang="en-US" sz="5400" dirty="0">
                <a:solidFill>
                  <a:srgbClr val="FFFFFF"/>
                </a:solidFill>
                <a:latin typeface="Helvetica Neue Light" pitchFamily="34" charset="0"/>
                <a:ea typeface="Helvetica Neue Light" pitchFamily="34" charset="-122"/>
                <a:cs typeface="Helvetica Neue Light" pitchFamily="34" charset="-120"/>
              </a:rPr>
              <a:t>start from exactly that point.”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Satoshi Nakamoto, email to Adam Back</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95356" y="6140196"/>
            <a:ext cx="118872" cy="118872"/>
          </a:xfrm>
          <a:prstGeom prst="ellipse">
            <a:avLst/>
          </a:prstGeom>
          <a:solidFill>
            <a:srgbClr val="F7931A"/>
          </a:solidFill>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21, 2008</a:t>
            </a:r>
            <a:endParaRPr lang="en-US" sz="1800" dirty="0"/>
          </a:p>
          <a:p>
            <a:pPr algn="l" indent="0" marL="0">
              <a:lnSpc>
                <a:spcPct val="92000"/>
              </a:lnSpc>
              <a:spcBef>
                <a:spcPts val="810"/>
              </a:spcBef>
              <a:buNone/>
            </a:pPr>
            <a:r>
              <a:rPr lang="en-US" sz="7600" b="1" dirty="0">
                <a:solidFill>
                  <a:srgbClr val="FFFFFF"/>
                </a:solidFill>
                <a:latin typeface="Helvetica Neue" pitchFamily="34" charset="0"/>
                <a:ea typeface="Helvetica Neue" pitchFamily="34" charset="-122"/>
                <a:cs typeface="Helvetica Neue" pitchFamily="34" charset="-120"/>
              </a:rPr>
              <a:t>Hal Finney had known</a:t>
            </a:r>
            <a:endParaRPr lang="en-US" sz="1800" dirty="0"/>
          </a:p>
          <a:p>
            <a:pPr algn="l" indent="0" marL="0">
              <a:lnSpc>
                <a:spcPct val="92000"/>
              </a:lnSpc>
              <a:buNone/>
            </a:pPr>
            <a:r>
              <a:rPr lang="en-US" sz="7600" b="1" dirty="0">
                <a:solidFill>
                  <a:srgbClr val="FFFFFF"/>
                </a:solidFill>
                <a:latin typeface="Helvetica Neue" pitchFamily="34" charset="0"/>
                <a:ea typeface="Helvetica Neue" pitchFamily="34" charset="-122"/>
                <a:cs typeface="Helvetica Neue" pitchFamily="34" charset="-120"/>
              </a:rPr>
              <a:t>Wei Dai for</a:t>
            </a:r>
            <a:pPr indent="0" marL="0">
              <a:buNone/>
            </a:pPr>
            <a:r>
              <a:rPr lang="en-US" sz="7600" b="1" dirty="0">
                <a:solidFill>
                  <a:srgbClr val="F7931A"/>
                </a:solidFill>
                <a:latin typeface="Helvetica Neue" pitchFamily="34" charset="0"/>
                <a:ea typeface="Helvetica Neue" pitchFamily="34" charset="-122"/>
                <a:cs typeface="Helvetica Neue" pitchFamily="34" charset="-120"/>
              </a:rPr>
              <a:t> years</a:t>
            </a:r>
            <a:pPr indent="0" marL="0">
              <a:buNone/>
            </a:pPr>
            <a:r>
              <a:rPr lang="en-US" sz="76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Independent? Careful wording? Concealment?</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The email alone cannot tell us.</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895356" y="6140196"/>
            <a:ext cx="118872" cy="118872"/>
          </a:xfrm>
          <a:prstGeom prst="ellipse">
            <a:avLst/>
          </a:prstGeom>
          <a:solidFill>
            <a:srgbClr val="F7931A"/>
          </a:solidFill>
          <a:ln/>
        </p:spPr>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OCTOBER 31, 2008</a:t>
            </a:r>
            <a:endParaRPr lang="en-US" sz="1800" dirty="0"/>
          </a:p>
          <a:p>
            <a:pPr algn="l" indent="0" marL="0">
              <a:lnSpc>
                <a:spcPct val="92000"/>
              </a:lnSpc>
              <a:spcBef>
                <a:spcPts val="810"/>
              </a:spcBef>
              <a:buNone/>
            </a:pPr>
            <a:r>
              <a:rPr lang="en-US" sz="7000" b="1" dirty="0">
                <a:solidFill>
                  <a:srgbClr val="FFFFFF"/>
                </a:solidFill>
                <a:latin typeface="Helvetica Neue" pitchFamily="34" charset="0"/>
                <a:ea typeface="Helvetica Neue" pitchFamily="34" charset="-122"/>
                <a:cs typeface="Helvetica Neue" pitchFamily="34" charset="-120"/>
              </a:rPr>
              <a:t>Bitcoin: A Peer-to-Peer</a:t>
            </a:r>
            <a:endParaRPr lang="en-US" sz="1800" dirty="0"/>
          </a:p>
          <a:p>
            <a:pPr algn="l" indent="0" marL="0">
              <a:lnSpc>
                <a:spcPct val="92000"/>
              </a:lnSpc>
              <a:buNone/>
            </a:pPr>
            <a:r>
              <a:rPr lang="en-US" sz="7000" b="1" dirty="0">
                <a:solidFill>
                  <a:srgbClr val="FFFFFF"/>
                </a:solidFill>
                <a:latin typeface="Helvetica Neue" pitchFamily="34" charset="0"/>
                <a:ea typeface="Helvetica Neue" pitchFamily="34" charset="-122"/>
                <a:cs typeface="Helvetica Neue" pitchFamily="34" charset="-120"/>
              </a:rPr>
              <a:t>Electronic Cash System</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An unknown author. Familiar inventions —</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combined into agreement</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without a trusted issuer</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42236" y="6140196"/>
            <a:ext cx="118872" cy="118872"/>
          </a:xfrm>
          <a:prstGeom prst="ellipse">
            <a:avLst/>
          </a:prstGeom>
          <a:solidFill>
            <a:srgbClr val="F7931A"/>
          </a:solidFill>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kicker"/>
          <p:cNvSpPr txBox="1"/>
          <p:nvPr/>
        </p:nvSpPr>
        <p:spPr>
          <a:xfrm>
            <a:off x="914400" y="685800"/>
            <a:ext cx="91440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THE WHITEPAPER</a:t>
            </a:r>
            <a:endParaRPr lang="en-US" sz="1800" dirty="0"/>
          </a:p>
        </p:txBody>
      </p:sp>
      <p:sp>
        <p:nvSpPr>
          <p:cNvPr id="3" name="title"/>
          <p:cNvSpPr txBox="1"/>
          <p:nvPr/>
        </p:nvSpPr>
        <p:spPr>
          <a:xfrm>
            <a:off x="914400" y="1051560"/>
            <a:ext cx="10362895" cy="914400"/>
          </a:xfrm>
          <a:prstGeom prst="rect">
            <a:avLst/>
          </a:prstGeom>
          <a:noFill/>
          <a:ln/>
        </p:spPr>
        <p:txBody>
          <a:bodyPr wrap="square" lIns="0" tIns="0" rIns="0" bIns="0" rtlCol="0" anchor="t"/>
          <a:lstStyle/>
          <a:p>
            <a:pPr algn="l" indent="0" marL="0">
              <a:buNone/>
            </a:pPr>
            <a:r>
              <a:rPr lang="en-US" sz="6400" b="1" dirty="0">
                <a:solidFill>
                  <a:srgbClr val="FFFFFF"/>
                </a:solidFill>
                <a:latin typeface="Helvetica Neue" pitchFamily="34" charset="0"/>
                <a:ea typeface="Helvetica Neue" pitchFamily="34" charset="-122"/>
                <a:cs typeface="Helvetica Neue" pitchFamily="34" charset="-120"/>
              </a:rPr>
              <a:t>Eight references</a:t>
            </a:r>
            <a:endParaRPr lang="en-US" sz="6400" dirty="0"/>
          </a:p>
        </p:txBody>
      </p:sp>
      <p:sp>
        <p:nvSpPr>
          <p:cNvPr id="4" name="ref1-n"/>
          <p:cNvSpPr txBox="1"/>
          <p:nvPr/>
        </p:nvSpPr>
        <p:spPr>
          <a:xfrm>
            <a:off x="914400" y="23317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[1]</a:t>
            </a:r>
            <a:endParaRPr lang="en-US" sz="2000" dirty="0"/>
          </a:p>
        </p:txBody>
      </p:sp>
      <p:sp>
        <p:nvSpPr>
          <p:cNvPr id="5" name="ref1-who"/>
          <p:cNvSpPr txBox="1"/>
          <p:nvPr/>
        </p:nvSpPr>
        <p:spPr>
          <a:xfrm>
            <a:off x="1554480" y="23317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W. Dai</a:t>
            </a:r>
            <a:endParaRPr lang="en-US" sz="2000" dirty="0"/>
          </a:p>
        </p:txBody>
      </p:sp>
      <p:sp>
        <p:nvSpPr>
          <p:cNvPr id="6" name="ref1-what"/>
          <p:cNvSpPr txBox="1"/>
          <p:nvPr/>
        </p:nvSpPr>
        <p:spPr>
          <a:xfrm>
            <a:off x="4697222" y="23317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b-money</a:t>
            </a:r>
            <a:endParaRPr lang="en-US" sz="2000" dirty="0"/>
          </a:p>
        </p:txBody>
      </p:sp>
      <p:sp>
        <p:nvSpPr>
          <p:cNvPr id="7" name="ref1-yr"/>
          <p:cNvSpPr txBox="1"/>
          <p:nvPr/>
        </p:nvSpPr>
        <p:spPr>
          <a:xfrm>
            <a:off x="10454335" y="23317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1998</a:t>
            </a:r>
            <a:endParaRPr lang="en-US" sz="2000" dirty="0"/>
          </a:p>
        </p:txBody>
      </p:sp>
      <p:sp>
        <p:nvSpPr>
          <p:cNvPr id="8" name="ref2-n"/>
          <p:cNvSpPr txBox="1"/>
          <p:nvPr/>
        </p:nvSpPr>
        <p:spPr>
          <a:xfrm>
            <a:off x="914400" y="27762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[2]</a:t>
            </a:r>
            <a:endParaRPr lang="en-US" sz="2000" dirty="0"/>
          </a:p>
        </p:txBody>
      </p:sp>
      <p:sp>
        <p:nvSpPr>
          <p:cNvPr id="9" name="ref2-who"/>
          <p:cNvSpPr txBox="1"/>
          <p:nvPr/>
        </p:nvSpPr>
        <p:spPr>
          <a:xfrm>
            <a:off x="1554480" y="27762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H. Massias et al.</a:t>
            </a:r>
            <a:endParaRPr lang="en-US" sz="2000" dirty="0"/>
          </a:p>
        </p:txBody>
      </p:sp>
      <p:sp>
        <p:nvSpPr>
          <p:cNvPr id="10" name="ref2-what"/>
          <p:cNvSpPr txBox="1"/>
          <p:nvPr/>
        </p:nvSpPr>
        <p:spPr>
          <a:xfrm>
            <a:off x="4697222" y="27762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Secure timestamping with minimal trust</a:t>
            </a:r>
            <a:endParaRPr lang="en-US" sz="2000" dirty="0"/>
          </a:p>
        </p:txBody>
      </p:sp>
      <p:sp>
        <p:nvSpPr>
          <p:cNvPr id="11" name="ref2-yr"/>
          <p:cNvSpPr txBox="1"/>
          <p:nvPr/>
        </p:nvSpPr>
        <p:spPr>
          <a:xfrm>
            <a:off x="10454335" y="27762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1999</a:t>
            </a:r>
            <a:endParaRPr lang="en-US" sz="2000" dirty="0"/>
          </a:p>
        </p:txBody>
      </p:sp>
      <p:sp>
        <p:nvSpPr>
          <p:cNvPr id="12" name="ref3-n"/>
          <p:cNvSpPr txBox="1"/>
          <p:nvPr/>
        </p:nvSpPr>
        <p:spPr>
          <a:xfrm>
            <a:off x="914400" y="32207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[3]</a:t>
            </a:r>
            <a:endParaRPr lang="en-US" sz="2000" dirty="0"/>
          </a:p>
        </p:txBody>
      </p:sp>
      <p:sp>
        <p:nvSpPr>
          <p:cNvPr id="13" name="ref3-who"/>
          <p:cNvSpPr txBox="1"/>
          <p:nvPr/>
        </p:nvSpPr>
        <p:spPr>
          <a:xfrm>
            <a:off x="1554480" y="32207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S. Haber, W.S. Stornetta</a:t>
            </a:r>
            <a:endParaRPr lang="en-US" sz="2000" dirty="0"/>
          </a:p>
        </p:txBody>
      </p:sp>
      <p:sp>
        <p:nvSpPr>
          <p:cNvPr id="14" name="ref3-what"/>
          <p:cNvSpPr txBox="1"/>
          <p:nvPr/>
        </p:nvSpPr>
        <p:spPr>
          <a:xfrm>
            <a:off x="4697222" y="32207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How to time-stamp a digital document</a:t>
            </a:r>
            <a:endParaRPr lang="en-US" sz="2000" dirty="0"/>
          </a:p>
        </p:txBody>
      </p:sp>
      <p:sp>
        <p:nvSpPr>
          <p:cNvPr id="15" name="ref3-yr"/>
          <p:cNvSpPr txBox="1"/>
          <p:nvPr/>
        </p:nvSpPr>
        <p:spPr>
          <a:xfrm>
            <a:off x="10454335" y="32207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1991</a:t>
            </a:r>
            <a:endParaRPr lang="en-US" sz="2000" dirty="0"/>
          </a:p>
        </p:txBody>
      </p:sp>
      <p:sp>
        <p:nvSpPr>
          <p:cNvPr id="16" name="ref4-n"/>
          <p:cNvSpPr txBox="1"/>
          <p:nvPr/>
        </p:nvSpPr>
        <p:spPr>
          <a:xfrm>
            <a:off x="914400" y="36652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[4]</a:t>
            </a:r>
            <a:endParaRPr lang="en-US" sz="2000" dirty="0"/>
          </a:p>
        </p:txBody>
      </p:sp>
      <p:sp>
        <p:nvSpPr>
          <p:cNvPr id="17" name="ref4-who"/>
          <p:cNvSpPr txBox="1"/>
          <p:nvPr/>
        </p:nvSpPr>
        <p:spPr>
          <a:xfrm>
            <a:off x="1554480" y="36652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D. Bayer et al.</a:t>
            </a:r>
            <a:endParaRPr lang="en-US" sz="2000" dirty="0"/>
          </a:p>
        </p:txBody>
      </p:sp>
      <p:sp>
        <p:nvSpPr>
          <p:cNvPr id="18" name="ref4-what"/>
          <p:cNvSpPr txBox="1"/>
          <p:nvPr/>
        </p:nvSpPr>
        <p:spPr>
          <a:xfrm>
            <a:off x="4697222" y="36652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Efficiency of digital time-stamping</a:t>
            </a:r>
            <a:endParaRPr lang="en-US" sz="2000" dirty="0"/>
          </a:p>
        </p:txBody>
      </p:sp>
      <p:sp>
        <p:nvSpPr>
          <p:cNvPr id="19" name="ref4-yr"/>
          <p:cNvSpPr txBox="1"/>
          <p:nvPr/>
        </p:nvSpPr>
        <p:spPr>
          <a:xfrm>
            <a:off x="10454335" y="36652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1993</a:t>
            </a:r>
            <a:endParaRPr lang="en-US" sz="2000" dirty="0"/>
          </a:p>
        </p:txBody>
      </p:sp>
      <p:sp>
        <p:nvSpPr>
          <p:cNvPr id="20" name="ref5-n"/>
          <p:cNvSpPr txBox="1"/>
          <p:nvPr/>
        </p:nvSpPr>
        <p:spPr>
          <a:xfrm>
            <a:off x="914400" y="41097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[5]</a:t>
            </a:r>
            <a:endParaRPr lang="en-US" sz="2000" dirty="0"/>
          </a:p>
        </p:txBody>
      </p:sp>
      <p:sp>
        <p:nvSpPr>
          <p:cNvPr id="21" name="ref5-who"/>
          <p:cNvSpPr txBox="1"/>
          <p:nvPr/>
        </p:nvSpPr>
        <p:spPr>
          <a:xfrm>
            <a:off x="1554480" y="41097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S. Haber, W.S. Stornetta</a:t>
            </a:r>
            <a:endParaRPr lang="en-US" sz="2000" dirty="0"/>
          </a:p>
        </p:txBody>
      </p:sp>
      <p:sp>
        <p:nvSpPr>
          <p:cNvPr id="22" name="ref5-what"/>
          <p:cNvSpPr txBox="1"/>
          <p:nvPr/>
        </p:nvSpPr>
        <p:spPr>
          <a:xfrm>
            <a:off x="4697222" y="41097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Secure names for bit-strings</a:t>
            </a:r>
            <a:endParaRPr lang="en-US" sz="2000" dirty="0"/>
          </a:p>
        </p:txBody>
      </p:sp>
      <p:sp>
        <p:nvSpPr>
          <p:cNvPr id="23" name="ref5-yr"/>
          <p:cNvSpPr txBox="1"/>
          <p:nvPr/>
        </p:nvSpPr>
        <p:spPr>
          <a:xfrm>
            <a:off x="10454335" y="41097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1997</a:t>
            </a:r>
            <a:endParaRPr lang="en-US" sz="2000" dirty="0"/>
          </a:p>
        </p:txBody>
      </p:sp>
      <p:sp>
        <p:nvSpPr>
          <p:cNvPr id="24" name="ref6-n"/>
          <p:cNvSpPr txBox="1"/>
          <p:nvPr/>
        </p:nvSpPr>
        <p:spPr>
          <a:xfrm>
            <a:off x="914400" y="45542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[6]</a:t>
            </a:r>
            <a:endParaRPr lang="en-US" sz="2000" dirty="0"/>
          </a:p>
        </p:txBody>
      </p:sp>
      <p:sp>
        <p:nvSpPr>
          <p:cNvPr id="25" name="ref6-who"/>
          <p:cNvSpPr txBox="1"/>
          <p:nvPr/>
        </p:nvSpPr>
        <p:spPr>
          <a:xfrm>
            <a:off x="1554480" y="45542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A. Back</a:t>
            </a:r>
            <a:endParaRPr lang="en-US" sz="2000" dirty="0"/>
          </a:p>
        </p:txBody>
      </p:sp>
      <p:sp>
        <p:nvSpPr>
          <p:cNvPr id="26" name="ref6-what"/>
          <p:cNvSpPr txBox="1"/>
          <p:nvPr/>
        </p:nvSpPr>
        <p:spPr>
          <a:xfrm>
            <a:off x="4697222" y="45542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Hashcash — a denial of service counter-measure</a:t>
            </a:r>
            <a:endParaRPr lang="en-US" sz="2000" dirty="0"/>
          </a:p>
        </p:txBody>
      </p:sp>
      <p:sp>
        <p:nvSpPr>
          <p:cNvPr id="27" name="ref6-yr"/>
          <p:cNvSpPr txBox="1"/>
          <p:nvPr/>
        </p:nvSpPr>
        <p:spPr>
          <a:xfrm>
            <a:off x="10454335" y="45542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2002</a:t>
            </a:r>
            <a:endParaRPr lang="en-US" sz="2000" dirty="0"/>
          </a:p>
        </p:txBody>
      </p:sp>
      <p:sp>
        <p:nvSpPr>
          <p:cNvPr id="28" name="ref7-n"/>
          <p:cNvSpPr txBox="1"/>
          <p:nvPr/>
        </p:nvSpPr>
        <p:spPr>
          <a:xfrm>
            <a:off x="914400" y="49987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[7]</a:t>
            </a:r>
            <a:endParaRPr lang="en-US" sz="2000" dirty="0"/>
          </a:p>
        </p:txBody>
      </p:sp>
      <p:sp>
        <p:nvSpPr>
          <p:cNvPr id="29" name="ref7-who"/>
          <p:cNvSpPr txBox="1"/>
          <p:nvPr/>
        </p:nvSpPr>
        <p:spPr>
          <a:xfrm>
            <a:off x="1554480" y="49987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R.C. Merkle</a:t>
            </a:r>
            <a:endParaRPr lang="en-US" sz="2000" dirty="0"/>
          </a:p>
        </p:txBody>
      </p:sp>
      <p:sp>
        <p:nvSpPr>
          <p:cNvPr id="30" name="ref7-what"/>
          <p:cNvSpPr txBox="1"/>
          <p:nvPr/>
        </p:nvSpPr>
        <p:spPr>
          <a:xfrm>
            <a:off x="4697222" y="49987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Protocols for public key cryptosystems</a:t>
            </a:r>
            <a:endParaRPr lang="en-US" sz="2000" dirty="0"/>
          </a:p>
        </p:txBody>
      </p:sp>
      <p:sp>
        <p:nvSpPr>
          <p:cNvPr id="31" name="ref7-yr"/>
          <p:cNvSpPr txBox="1"/>
          <p:nvPr/>
        </p:nvSpPr>
        <p:spPr>
          <a:xfrm>
            <a:off x="10454335" y="49987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1980</a:t>
            </a:r>
            <a:endParaRPr lang="en-US" sz="2000" dirty="0"/>
          </a:p>
        </p:txBody>
      </p:sp>
      <p:sp>
        <p:nvSpPr>
          <p:cNvPr id="32" name="ref8-n"/>
          <p:cNvSpPr txBox="1"/>
          <p:nvPr/>
        </p:nvSpPr>
        <p:spPr>
          <a:xfrm>
            <a:off x="914400" y="5443220"/>
            <a:ext cx="640080" cy="365760"/>
          </a:xfrm>
          <a:prstGeom prst="rect">
            <a:avLst/>
          </a:prstGeom>
          <a:noFill/>
          <a:ln/>
        </p:spPr>
        <p:txBody>
          <a:bodyPr wrap="square" lIns="0" tIns="0" rIns="0" bIns="0" rtlCol="0" anchor="t"/>
          <a:lstStyle/>
          <a:p>
            <a:pPr algn="l" indent="0" marL="0">
              <a:buNone/>
            </a:pPr>
            <a:r>
              <a:rPr lang="en-US" sz="2000" dirty="0">
                <a:solidFill>
                  <a:srgbClr val="48484A"/>
                </a:solidFill>
                <a:latin typeface="Helvetica Neue Light" pitchFamily="34" charset="0"/>
                <a:ea typeface="Helvetica Neue Light" pitchFamily="34" charset="-122"/>
                <a:cs typeface="Helvetica Neue Light" pitchFamily="34" charset="-120"/>
              </a:rPr>
              <a:t>[8]</a:t>
            </a:r>
            <a:endParaRPr lang="en-US" sz="2000" dirty="0"/>
          </a:p>
        </p:txBody>
      </p:sp>
      <p:sp>
        <p:nvSpPr>
          <p:cNvPr id="33" name="ref8-who"/>
          <p:cNvSpPr txBox="1"/>
          <p:nvPr/>
        </p:nvSpPr>
        <p:spPr>
          <a:xfrm>
            <a:off x="1554480" y="5443220"/>
            <a:ext cx="3142742" cy="365760"/>
          </a:xfrm>
          <a:prstGeom prst="rect">
            <a:avLst/>
          </a:prstGeom>
          <a:noFill/>
          <a:ln/>
        </p:spPr>
        <p:txBody>
          <a:bodyPr wrap="square" lIns="0" tIns="0" rIns="0" bIns="0" rtlCol="0" anchor="t"/>
          <a:lstStyle/>
          <a:p>
            <a:pPr algn="l" indent="0" marL="0">
              <a:buNone/>
            </a:pPr>
            <a:r>
              <a:rPr lang="en-US" sz="2000" dirty="0">
                <a:solidFill>
                  <a:srgbClr val="FFFFFF"/>
                </a:solidFill>
                <a:latin typeface="Helvetica Neue Medium" pitchFamily="34" charset="0"/>
                <a:ea typeface="Helvetica Neue Medium" pitchFamily="34" charset="-122"/>
                <a:cs typeface="Helvetica Neue Medium" pitchFamily="34" charset="-120"/>
              </a:rPr>
              <a:t>W. Feller</a:t>
            </a:r>
            <a:endParaRPr lang="en-US" sz="2000" dirty="0"/>
          </a:p>
        </p:txBody>
      </p:sp>
      <p:sp>
        <p:nvSpPr>
          <p:cNvPr id="34" name="ref8-what"/>
          <p:cNvSpPr txBox="1"/>
          <p:nvPr/>
        </p:nvSpPr>
        <p:spPr>
          <a:xfrm>
            <a:off x="4697222" y="5443220"/>
            <a:ext cx="7315200" cy="365760"/>
          </a:xfrm>
          <a:prstGeom prst="rect">
            <a:avLst/>
          </a:prstGeom>
          <a:noFill/>
          <a:ln/>
        </p:spPr>
        <p:txBody>
          <a:bodyPr wrap="square" lIns="0" tIns="0" rIns="0" bIns="0" rtlCol="0" anchor="t"/>
          <a:lstStyle/>
          <a:p>
            <a:pPr algn="l" indent="0" marL="0">
              <a:buNone/>
            </a:pPr>
            <a:r>
              <a:rPr lang="en-US" sz="2000" dirty="0">
                <a:solidFill>
                  <a:srgbClr val="AEAEB2"/>
                </a:solidFill>
                <a:latin typeface="Helvetica Neue Light" pitchFamily="34" charset="0"/>
                <a:ea typeface="Helvetica Neue Light" pitchFamily="34" charset="-122"/>
                <a:cs typeface="Helvetica Neue Light" pitchFamily="34" charset="-120"/>
              </a:rPr>
              <a:t>An introduction to probability theory</a:t>
            </a:r>
            <a:endParaRPr lang="en-US" sz="2000" dirty="0"/>
          </a:p>
        </p:txBody>
      </p:sp>
      <p:sp>
        <p:nvSpPr>
          <p:cNvPr id="35" name="ref8-yr"/>
          <p:cNvSpPr txBox="1"/>
          <p:nvPr/>
        </p:nvSpPr>
        <p:spPr>
          <a:xfrm>
            <a:off x="10454335" y="5443220"/>
            <a:ext cx="822960" cy="365760"/>
          </a:xfrm>
          <a:prstGeom prst="rect">
            <a:avLst/>
          </a:prstGeom>
          <a:noFill/>
          <a:ln/>
        </p:spPr>
        <p:txBody>
          <a:bodyPr wrap="square" lIns="0" tIns="0" rIns="0" bIns="0" rtlCol="0" anchor="t"/>
          <a:lstStyle/>
          <a:p>
            <a:pPr algn="r" indent="0" marL="0">
              <a:buNone/>
            </a:pPr>
            <a:r>
              <a:rPr lang="en-US" sz="2000" dirty="0">
                <a:solidFill>
                  <a:srgbClr val="8E8E93"/>
                </a:solidFill>
                <a:latin typeface="Helvetica Neue Light" pitchFamily="34" charset="0"/>
                <a:ea typeface="Helvetica Neue Light" pitchFamily="34" charset="-122"/>
                <a:cs typeface="Helvetica Neue Light" pitchFamily="34" charset="-120"/>
              </a:rPr>
              <a:t>1957</a:t>
            </a:r>
            <a:endParaRPr lang="en-US" sz="2000" dirty="0"/>
          </a:p>
        </p:txBody>
      </p:sp>
      <p:sp>
        <p:nvSpPr>
          <p:cNvPr id="36" name="timeline"/>
          <p:cNvSpPr/>
          <p:nvPr/>
        </p:nvSpPr>
        <p:spPr>
          <a:xfrm>
            <a:off x="914400" y="6199632"/>
            <a:ext cx="10362895" cy="0"/>
          </a:xfrm>
          <a:prstGeom prst="line">
            <a:avLst/>
          </a:prstGeom>
          <a:noFill/>
          <a:ln w="12700">
            <a:solidFill>
              <a:srgbClr val="2C2C2E"/>
            </a:solidFill>
            <a:prstDash val="solid"/>
          </a:ln>
        </p:spPr>
      </p:sp>
      <p:sp>
        <p:nvSpPr>
          <p:cNvPr id="37"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38"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39" name="timeline-now"/>
          <p:cNvSpPr/>
          <p:nvPr/>
        </p:nvSpPr>
        <p:spPr>
          <a:xfrm>
            <a:off x="9942236" y="6140196"/>
            <a:ext cx="118872" cy="118872"/>
          </a:xfrm>
          <a:prstGeom prst="ellipse">
            <a:avLst/>
          </a:prstGeom>
          <a:solidFill>
            <a:srgbClr val="F7931A"/>
          </a:solidFill>
          <a:ln/>
        </p:spPr>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WHITEPAPER</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Two names</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are</a:t>
            </a:r>
            <a:pPr indent="0" marL="0">
              <a:buNone/>
            </a:pPr>
            <a:r>
              <a:rPr lang="en-US" sz="9200" b="1" dirty="0">
                <a:solidFill>
                  <a:srgbClr val="F7931A"/>
                </a:solidFill>
                <a:latin typeface="Helvetica Neue" pitchFamily="34" charset="0"/>
                <a:ea typeface="Helvetica Neue" pitchFamily="34" charset="-122"/>
                <a:cs typeface="Helvetica Neue" pitchFamily="34" charset="-120"/>
              </a:rPr>
              <a:t> missing</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42236" y="6140196"/>
            <a:ext cx="118872" cy="118872"/>
          </a:xfrm>
          <a:prstGeom prst="ellipse">
            <a:avLst/>
          </a:prstGeom>
          <a:solidFill>
            <a:srgbClr val="F7931A"/>
          </a:solidFill>
          <a:ln/>
        </p:spPr>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NOT CITED</a:t>
            </a:r>
            <a:endParaRPr lang="en-US" sz="1800" dirty="0"/>
          </a:p>
          <a:p>
            <a:pPr algn="l" indent="0" marL="0">
              <a:lnSpc>
                <a:spcPct val="92000"/>
              </a:lnSpc>
              <a:spcBef>
                <a:spcPts val="810"/>
              </a:spcBef>
              <a:buNone/>
            </a:pPr>
            <a:r>
              <a:rPr lang="en-US" sz="9600" b="1" dirty="0">
                <a:solidFill>
                  <a:srgbClr val="F7931A"/>
                </a:solidFill>
                <a:latin typeface="Helvetica Neue" pitchFamily="34" charset="0"/>
                <a:ea typeface="Helvetica Neue" pitchFamily="34" charset="-122"/>
                <a:cs typeface="Helvetica Neue" pitchFamily="34" charset="-120"/>
              </a:rPr>
              <a:t>Nick Szabo.</a:t>
            </a:r>
            <a:endParaRPr lang="en-US" sz="1800" dirty="0"/>
          </a:p>
          <a:p>
            <a:pPr algn="l" indent="0" marL="0">
              <a:lnSpc>
                <a:spcPct val="92000"/>
              </a:lnSpc>
              <a:buNone/>
            </a:pPr>
            <a:r>
              <a:rPr lang="en-US" sz="9600" b="1" dirty="0">
                <a:solidFill>
                  <a:srgbClr val="F7931A"/>
                </a:solidFill>
                <a:latin typeface="Helvetica Neue" pitchFamily="34" charset="0"/>
                <a:ea typeface="Helvetica Neue" pitchFamily="34" charset="-122"/>
                <a:cs typeface="Helvetica Neue" pitchFamily="34" charset="-120"/>
              </a:rPr>
              <a:t>Hal Finney.</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Oversight, editorial judgment, or deliberate</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distancing? The motive is unknown.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42236" y="6140196"/>
            <a:ext cx="118872" cy="118872"/>
          </a:xfrm>
          <a:prstGeom prst="ellipse">
            <a:avLst/>
          </a:prstGeom>
          <a:solidFill>
            <a:srgbClr val="F7931A"/>
          </a:solidFill>
          <a:ln/>
        </p:spPr>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NOVEMBER 2008 · BITCOIN SOURCE</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Bitcoin was still</a:t>
            </a:r>
            <a:endParaRPr lang="en-US" sz="1800" dirty="0"/>
          </a:p>
          <a:p>
            <a:pPr algn="l" indent="0" marL="0">
              <a:lnSpc>
                <a:spcPct val="92000"/>
              </a:lnSpc>
              <a:buNone/>
            </a:pPr>
            <a:r>
              <a:rPr lang="en-US" sz="9200" b="1" dirty="0">
                <a:solidFill>
                  <a:srgbClr val="F7931A"/>
                </a:solidFill>
                <a:latin typeface="Helvetica Neue" pitchFamily="34" charset="0"/>
                <a:ea typeface="Helvetica Neue" pitchFamily="34" charset="-122"/>
                <a:cs typeface="Helvetica Neue" pitchFamily="34" charset="-120"/>
              </a:rPr>
              <a:t>changing</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The code existed before launch — and its</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monetary parameters were still being refined.</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54573" y="6140196"/>
            <a:ext cx="118872" cy="118872"/>
          </a:xfrm>
          <a:prstGeom prst="ellipse">
            <a:avLst/>
          </a:prstGeom>
          <a:solidFill>
            <a:srgbClr val="F7931A"/>
          </a:solidFill>
          <a:ln/>
        </p:spPr>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BITCOIN V0.1 · SHA-256</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Inside Bitcoin:</a:t>
            </a:r>
            <a:endParaRPr lang="en-US" sz="1800" dirty="0"/>
          </a:p>
          <a:p>
            <a:pPr algn="l" indent="0" marL="0">
              <a:lnSpc>
                <a:spcPct val="92000"/>
              </a:lnSpc>
              <a:buNone/>
            </a:pPr>
            <a:r>
              <a:rPr lang="en-US" sz="9200" b="1" dirty="0">
                <a:solidFill>
                  <a:srgbClr val="F7931A"/>
                </a:solidFill>
                <a:latin typeface="Helvetica Neue" pitchFamily="34" charset="0"/>
                <a:ea typeface="Helvetica Neue" pitchFamily="34" charset="-122"/>
                <a:cs typeface="Helvetica Neue" pitchFamily="34" charset="-120"/>
              </a:rPr>
              <a:t>Wei Dai’s</a:t>
            </a:r>
            <a:pPr indent="0" marL="0">
              <a:buNone/>
            </a:pPr>
            <a:r>
              <a:rPr lang="en-US" sz="9200" b="1" dirty="0">
                <a:solidFill>
                  <a:srgbClr val="FFFFFF"/>
                </a:solidFill>
                <a:latin typeface="Helvetica Neue" pitchFamily="34" charset="0"/>
                <a:ea typeface="Helvetica Neue" pitchFamily="34" charset="-122"/>
                <a:cs typeface="Helvetica Neue" pitchFamily="34" charset="-120"/>
              </a:rPr>
              <a:t> code.</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SHA-256 code descended from Crypto++.</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Proof of reuse — not of authorship.</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84181" y="6140196"/>
            <a:ext cx="118872" cy="118872"/>
          </a:xfrm>
          <a:prstGeom prst="ellipse">
            <a:avLst/>
          </a:prstGeom>
          <a:solidFill>
            <a:srgbClr val="F7931A"/>
          </a:solidFill>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p:cNvSpPr txBox="1"/>
          <p:nvPr/>
        </p:nvSpPr>
        <p:spPr>
          <a:xfrm>
            <a:off x="914400" y="502920"/>
            <a:ext cx="104543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JANUARY 2009</a:t>
            </a:r>
            <a:endParaRPr lang="en-US" sz="1800" dirty="0"/>
          </a:p>
          <a:p>
            <a:pPr algn="l" indent="0" marL="0">
              <a:lnSpc>
                <a:spcPct val="108000"/>
              </a:lnSpc>
              <a:spcBef>
                <a:spcPts val="2400"/>
              </a:spcBef>
              <a:buNone/>
            </a:pPr>
            <a:r>
              <a:rPr lang="en-US" sz="10000" dirty="0">
                <a:solidFill>
                  <a:srgbClr val="FFFFFF"/>
                </a:solidFill>
                <a:latin typeface="Helvetica Neue Light" pitchFamily="34" charset="0"/>
                <a:ea typeface="Helvetica Neue Light" pitchFamily="34" charset="-122"/>
                <a:cs typeface="Helvetica Neue Light" pitchFamily="34" charset="-120"/>
              </a:rPr>
              <a:t>“Running</a:t>
            </a:r>
            <a:pPr indent="0" marL="0">
              <a:buNone/>
            </a:pPr>
            <a:r>
              <a:rPr lang="en-US" sz="10000" dirty="0">
                <a:solidFill>
                  <a:srgbClr val="F7931A"/>
                </a:solidFill>
                <a:latin typeface="Helvetica Neue Medium" pitchFamily="34" charset="0"/>
                <a:ea typeface="Helvetica Neue Medium" pitchFamily="34" charset="-122"/>
                <a:cs typeface="Helvetica Neue Medium" pitchFamily="34" charset="-120"/>
              </a:rPr>
              <a:t> bitcoin</a:t>
            </a:r>
            <a:pPr indent="0" marL="0">
              <a:buNone/>
            </a:pPr>
            <a:r>
              <a:rPr lang="en-US" sz="100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0000"/>
              </a:lnSpc>
              <a:spcBef>
                <a:spcPts val="3000"/>
              </a:spcBef>
              <a:buNone/>
            </a:pPr>
            <a:r>
              <a:rPr lang="en-US" sz="2200" dirty="0">
                <a:solidFill>
                  <a:srgbClr val="8E8E93"/>
                </a:solidFill>
                <a:latin typeface="Helvetica Neue Light" pitchFamily="34" charset="0"/>
                <a:ea typeface="Helvetica Neue Light" pitchFamily="34" charset="-122"/>
                <a:cs typeface="Helvetica Neue Light" pitchFamily="34" charset="-120"/>
              </a:rPr>
              <a:t>Hal Finney, on Twitter</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91583" y="6140196"/>
            <a:ext cx="118872" cy="118872"/>
          </a:xfrm>
          <a:prstGeom prst="ellipse">
            <a:avLst/>
          </a:prstGeom>
          <a:solidFill>
            <a:srgbClr val="F7931A"/>
          </a:solidFill>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JANUARY 12, 2009</a:t>
            </a:r>
            <a:endParaRPr lang="en-US" sz="1800" dirty="0"/>
          </a:p>
          <a:p>
            <a:pPr algn="l" indent="0" marL="0">
              <a:lnSpc>
                <a:spcPct val="86000"/>
              </a:lnSpc>
              <a:spcBef>
                <a:spcPts val="810"/>
              </a:spcBef>
              <a:buNone/>
            </a:pPr>
            <a:r>
              <a:rPr lang="en-US" sz="17400" b="1" dirty="0">
                <a:solidFill>
                  <a:srgbClr val="F7931A"/>
                </a:solidFill>
                <a:latin typeface="Helvetica Neue" pitchFamily="34" charset="0"/>
                <a:ea typeface="Helvetica Neue" pitchFamily="34" charset="-122"/>
                <a:cs typeface="Helvetica Neue" pitchFamily="34" charset="-120"/>
              </a:rPr>
              <a:t>10</a:t>
            </a:r>
            <a:pPr indent="0" marL="0">
              <a:buNone/>
            </a:pPr>
            <a:r>
              <a:rPr lang="en-US" sz="17400" b="1" dirty="0">
                <a:solidFill>
                  <a:srgbClr val="FFFFFF"/>
                </a:solidFill>
                <a:latin typeface="Helvetica Neue" pitchFamily="34" charset="0"/>
                <a:ea typeface="Helvetica Neue" pitchFamily="34" charset="-122"/>
                <a:cs typeface="Helvetica Neue" pitchFamily="34" charset="-120"/>
              </a:rPr>
              <a:t> bitcoin</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Satoshi → Hal: the first widely recognized</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person-to-person Bitcoin transaction.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91583" y="6140196"/>
            <a:ext cx="118872" cy="118872"/>
          </a:xfrm>
          <a:prstGeom prst="ellipse">
            <a:avLst/>
          </a:prstGeom>
          <a:solidFill>
            <a:srgbClr val="F7931A"/>
          </a:solidFill>
          <a:ln/>
        </p:spPr>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JANUARY 2009 · HAL–SATOSHI EMAILS</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Tester and</a:t>
            </a:r>
            <a:endParaRPr lang="en-US" sz="1800" dirty="0"/>
          </a:p>
          <a:p>
            <a:pPr algn="l" indent="0" marL="0">
              <a:lnSpc>
                <a:spcPct val="92000"/>
              </a:lnSpc>
              <a:buNone/>
            </a:pPr>
            <a:r>
              <a:rPr lang="en-US" sz="9200" b="1" dirty="0">
                <a:solidFill>
                  <a:srgbClr val="F7931A"/>
                </a:solidFill>
                <a:latin typeface="Helvetica Neue" pitchFamily="34" charset="0"/>
                <a:ea typeface="Helvetica Neue" pitchFamily="34" charset="-122"/>
                <a:cs typeface="Helvetica Neue" pitchFamily="34" charset="-120"/>
              </a:rPr>
              <a:t>developer</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Hal reported bugs. Satoshi replied with</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fixes and deep knowledge of the C++ code.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9996518" y="6140196"/>
            <a:ext cx="118872" cy="118872"/>
          </a:xfrm>
          <a:prstGeom prst="ellipse">
            <a:avLst/>
          </a:prstGeom>
          <a:solidFill>
            <a:srgbClr val="F7931A"/>
          </a:solidFill>
          <a:ln/>
        </p:spPr>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APRIL 18, 2009 · SANTA BARBARA</a:t>
            </a:r>
            <a:endParaRPr lang="en-US" sz="1800" dirty="0"/>
          </a:p>
          <a:p>
            <a:pPr algn="l" indent="0" marL="0">
              <a:lnSpc>
                <a:spcPct val="86000"/>
              </a:lnSpc>
              <a:spcBef>
                <a:spcPts val="810"/>
              </a:spcBef>
              <a:buNone/>
            </a:pPr>
            <a:r>
              <a:rPr lang="en-US" sz="20000" b="1" dirty="0">
                <a:solidFill>
                  <a:srgbClr val="F7931A"/>
                </a:solidFill>
                <a:latin typeface="Helvetica Neue" pitchFamily="34" charset="0"/>
                <a:ea typeface="Helvetica Neue" pitchFamily="34" charset="-122"/>
                <a:cs typeface="Helvetica Neue" pitchFamily="34" charset="-120"/>
              </a:rPr>
              <a:t>10</a:t>
            </a:r>
            <a:pPr indent="0" marL="0">
              <a:buNone/>
            </a:pPr>
            <a:r>
              <a:rPr lang="en-US" sz="20000" b="1" dirty="0">
                <a:solidFill>
                  <a:srgbClr val="FFFFFF"/>
                </a:solidFill>
                <a:latin typeface="Helvetica Neue" pitchFamily="34" charset="0"/>
                <a:ea typeface="Helvetica Neue" pitchFamily="34" charset="-122"/>
                <a:cs typeface="Helvetica Neue" pitchFamily="34" charset="-120"/>
              </a:rPr>
              <a:t> miles</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Hal runs a documented ten-mile race.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0055735" y="6140196"/>
            <a:ext cx="118872" cy="118872"/>
          </a:xfrm>
          <a:prstGeom prst="ellipse">
            <a:avLst/>
          </a:prstGeom>
          <a:solidFill>
            <a:srgbClr val="F7931A"/>
          </a:solidFill>
          <a:ln/>
        </p:spPr>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APRIL 18, 2009</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Satoshi appears</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to be</a:t>
            </a:r>
            <a:pPr indent="0" marL="0">
              <a:buNone/>
            </a:pPr>
            <a:r>
              <a:rPr lang="en-US" sz="9200" b="1" dirty="0">
                <a:solidFill>
                  <a:srgbClr val="F7931A"/>
                </a:solidFill>
                <a:latin typeface="Helvetica Neue" pitchFamily="34" charset="0"/>
                <a:ea typeface="Helvetica Neue" pitchFamily="34" charset="-122"/>
                <a:cs typeface="Helvetica Neue" pitchFamily="34" charset="-120"/>
              </a:rPr>
              <a:t> active</a:t>
            </a:r>
            <a:pPr indent="0" marL="0">
              <a:buNone/>
            </a:pPr>
            <a:r>
              <a:rPr lang="en-US" sz="92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A serious problem for any theory</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that Hal ran the identity alone.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0055735" y="6140196"/>
            <a:ext cx="118872" cy="118872"/>
          </a:xfrm>
          <a:prstGeom prst="ellipse">
            <a:avLst/>
          </a:prstGeom>
          <a:solidFill>
            <a:srgbClr val="F7931A"/>
          </a:solidFill>
          <a:ln/>
        </p:spPr>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VII</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The Theory</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One name. More than one person?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ALIBI CHANGES THE QUESTION</a:t>
            </a:r>
            <a:endParaRPr lang="en-US" sz="1800" dirty="0"/>
          </a:p>
          <a:p>
            <a:pPr algn="l" indent="0" marL="0">
              <a:lnSpc>
                <a:spcPct val="92000"/>
              </a:lnSpc>
              <a:spcBef>
                <a:spcPts val="810"/>
              </a:spcBef>
              <a:buNone/>
            </a:pPr>
            <a:r>
              <a:rPr lang="en-US" sz="8600" b="1" dirty="0">
                <a:solidFill>
                  <a:srgbClr val="FFFFFF"/>
                </a:solidFill>
                <a:latin typeface="Helvetica Neue" pitchFamily="34" charset="0"/>
                <a:ea typeface="Helvetica Neue" pitchFamily="34" charset="-122"/>
                <a:cs typeface="Helvetica Neue" pitchFamily="34" charset="-120"/>
              </a:rPr>
              <a:t>What if Satoshi</a:t>
            </a:r>
            <a:endParaRPr lang="en-US" sz="1800" dirty="0"/>
          </a:p>
          <a:p>
            <a:pPr algn="l" indent="0" marL="0">
              <a:lnSpc>
                <a:spcPct val="92000"/>
              </a:lnSpc>
              <a:buNone/>
            </a:pPr>
            <a:r>
              <a:rPr lang="en-US" sz="8600" b="1" dirty="0">
                <a:solidFill>
                  <a:srgbClr val="FFFFFF"/>
                </a:solidFill>
                <a:latin typeface="Helvetica Neue" pitchFamily="34" charset="0"/>
                <a:ea typeface="Helvetica Neue" pitchFamily="34" charset="-122"/>
                <a:cs typeface="Helvetica Neue" pitchFamily="34" charset="-120"/>
              </a:rPr>
              <a:t>wasn’t</a:t>
            </a:r>
            <a:pPr indent="0" marL="0">
              <a:buNone/>
            </a:pPr>
            <a:r>
              <a:rPr lang="en-US" sz="8600" b="1" dirty="0">
                <a:solidFill>
                  <a:srgbClr val="F7931A"/>
                </a:solidFill>
                <a:latin typeface="Helvetica Neue" pitchFamily="34" charset="0"/>
                <a:ea typeface="Helvetica Neue" pitchFamily="34" charset="-122"/>
                <a:cs typeface="Helvetica Neue" pitchFamily="34" charset="-120"/>
              </a:rPr>
              <a:t> one person</a:t>
            </a:r>
            <a:pPr indent="0" marL="0">
              <a:buNone/>
            </a:pPr>
            <a:r>
              <a:rPr lang="en-US" sz="8600" b="1" dirty="0">
                <a:solidFill>
                  <a:srgbClr val="FFFFFF"/>
                </a:solidFill>
                <a:latin typeface="Helvetica Neue" pitchFamily="34" charset="0"/>
                <a:ea typeface="Helvetica Neue" pitchFamily="34" charset="-122"/>
                <a:cs typeface="Helvetica Neue"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 HYPOTHESIS</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A project,</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not a person?</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One engineer designing the software. Another</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handling correspondence and releases.</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pic>
        <p:nvPicPr>
          <p:cNvPr id="2" name="portrait" descr="/Users/fredkrueger/satoshi/assets/sassaman.png">    </p:cNvPr>
          <p:cNvPicPr>
            <a:picLocks noChangeAspect="1"/>
          </p:cNvPicPr>
          <p:nvPr/>
        </p:nvPicPr>
        <p:blipFill>
          <a:blip r:embed="rId1"/>
          <a:stretch>
            <a:fillRect/>
          </a:stretch>
        </p:blipFill>
        <p:spPr>
          <a:xfrm>
            <a:off x="914400" y="1668780"/>
            <a:ext cx="3017520" cy="3017520"/>
          </a:xfrm>
          <a:prstGeom prst="rect">
            <a:avLst/>
          </a:prstGeom>
        </p:spPr>
      </p:pic>
      <p:sp>
        <p:nvSpPr>
          <p:cNvPr id="3" name="text"/>
          <p:cNvSpPr txBox="1"/>
          <p:nvPr/>
        </p:nvSpPr>
        <p:spPr>
          <a:xfrm>
            <a:off x="4617720" y="1668780"/>
            <a:ext cx="6933895" cy="301752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LEN RETURNS</a:t>
            </a:r>
            <a:endParaRPr lang="en-US" sz="1800" dirty="0"/>
          </a:p>
          <a:p>
            <a:pPr algn="l" indent="0" marL="0">
              <a:lnSpc>
                <a:spcPct val="92000"/>
              </a:lnSpc>
              <a:spcBef>
                <a:spcPts val="810"/>
              </a:spcBef>
              <a:buNone/>
            </a:pPr>
            <a:r>
              <a:rPr lang="en-US" sz="6400" b="1" dirty="0">
                <a:solidFill>
                  <a:srgbClr val="FFFFFF"/>
                </a:solidFill>
                <a:latin typeface="Helvetica Neue" pitchFamily="34" charset="0"/>
                <a:ea typeface="Helvetica Neue" pitchFamily="34" charset="-122"/>
                <a:cs typeface="Helvetica Neue" pitchFamily="34" charset="-120"/>
              </a:rPr>
              <a:t>Len Sassaman</a:t>
            </a:r>
            <a:endParaRPr lang="en-US" sz="1800" dirty="0"/>
          </a:p>
          <a:p>
            <a:pPr algn="l" indent="0" marL="0">
              <a:lnSpc>
                <a:spcPct val="110000"/>
              </a:lnSpc>
              <a:spcBef>
                <a:spcPts val="1800"/>
              </a:spcBef>
              <a:buNone/>
            </a:pPr>
            <a:r>
              <a:rPr lang="en-US" sz="3000" dirty="0">
                <a:solidFill>
                  <a:srgbClr val="AEAEB2"/>
                </a:solidFill>
                <a:latin typeface="Helvetica Neue Light" pitchFamily="34" charset="0"/>
                <a:ea typeface="Helvetica Neue Light" pitchFamily="34" charset="-122"/>
                <a:cs typeface="Helvetica Neue Light" pitchFamily="34" charset="-120"/>
              </a:rPr>
              <a:t>Knew Hal. Understood pseudonymous</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cryptography. Encouraged authors to</a:t>
            </a:r>
            <a:endParaRPr lang="en-US" sz="1800" dirty="0"/>
          </a:p>
          <a:p>
            <a:pPr algn="l" indent="0" marL="0">
              <a:lnSpc>
                <a:spcPct val="110000"/>
              </a:lnSpc>
              <a:buNone/>
            </a:pPr>
            <a:r>
              <a:rPr lang="en-US" sz="3000" dirty="0">
                <a:solidFill>
                  <a:srgbClr val="AEAEB2"/>
                </a:solidFill>
                <a:latin typeface="Helvetica Neue Light" pitchFamily="34" charset="0"/>
                <a:ea typeface="Helvetica Neue Light" pitchFamily="34" charset="-122"/>
                <a:cs typeface="Helvetica Neue Light" pitchFamily="34" charset="-120"/>
              </a:rPr>
              <a:t>use</a:t>
            </a:r>
            <a:pPr indent="0" marL="0">
              <a:buNone/>
            </a:pPr>
            <a:r>
              <a:rPr lang="en-US" sz="3000" dirty="0">
                <a:solidFill>
                  <a:srgbClr val="F7931A"/>
                </a:solidFill>
                <a:latin typeface="Helvetica Neue Light" pitchFamily="34" charset="0"/>
                <a:ea typeface="Helvetica Neue Light" pitchFamily="34" charset="-122"/>
                <a:cs typeface="Helvetica Neue Light" pitchFamily="34" charset="-120"/>
              </a:rPr>
              <a:t> pseudonyms</a:t>
            </a:r>
            <a:pPr indent="0" marL="0">
              <a:buNone/>
            </a:pPr>
            <a:r>
              <a:rPr lang="en-US" sz="30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FINDING SATOSHI</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Did Len</a:t>
            </a:r>
            <a:endParaRPr lang="en-US" sz="1800" dirty="0"/>
          </a:p>
          <a:p>
            <a:pPr algn="l" indent="0" marL="0">
              <a:lnSpc>
                <a:spcPct val="92000"/>
              </a:lnSpc>
              <a:buNone/>
            </a:pPr>
            <a:r>
              <a:rPr lang="en-US" sz="9200" b="1" dirty="0">
                <a:solidFill>
                  <a:srgbClr val="FFFFFF"/>
                </a:solidFill>
                <a:latin typeface="Helvetica Neue" pitchFamily="34" charset="0"/>
                <a:ea typeface="Helvetica Neue" pitchFamily="34" charset="-122"/>
                <a:cs typeface="Helvetica Neue" pitchFamily="34" charset="-120"/>
              </a:rPr>
              <a:t>help Hal?</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The documentary proposes it.</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Friendship and expertise do not prove it.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kicker"/>
          <p:cNvSpPr txBox="1"/>
          <p:nvPr/>
        </p:nvSpPr>
        <p:spPr>
          <a:xfrm>
            <a:off x="914400" y="822960"/>
            <a:ext cx="5486400" cy="320040"/>
          </a:xfrm>
          <a:prstGeom prst="rect">
            <a:avLst/>
          </a:prstGeom>
          <a:noFill/>
          <a:ln/>
        </p:spPr>
        <p:txBody>
          <a:bodyPr wrap="square" lIns="0" tIns="0" rIns="0" bIns="0" rtlCol="0" anchor="t"/>
          <a:lstStyle/>
          <a:p>
            <a:pPr algn="l" indent="0" marL="0">
              <a:buNone/>
            </a:pPr>
            <a:r>
              <a:rPr lang="en-US" sz="1800" b="1" spc="300" kern="0" dirty="0">
                <a:solidFill>
                  <a:srgbClr val="F7931A"/>
                </a:solidFill>
                <a:latin typeface="Helvetica Neue" pitchFamily="34" charset="0"/>
                <a:ea typeface="Helvetica Neue" pitchFamily="34" charset="-122"/>
                <a:cs typeface="Helvetica Neue" pitchFamily="34" charset="-120"/>
              </a:rPr>
              <a:t>THE HYPOTHESIS</a:t>
            </a:r>
            <a:endParaRPr lang="en-US" sz="1800" dirty="0"/>
          </a:p>
        </p:txBody>
      </p:sp>
      <p:sp>
        <p:nvSpPr>
          <p:cNvPr id="3" name="lead"/>
          <p:cNvSpPr txBox="1"/>
          <p:nvPr/>
        </p:nvSpPr>
        <p:spPr>
          <a:xfrm>
            <a:off x="914400" y="1371600"/>
            <a:ext cx="4663440" cy="3566160"/>
          </a:xfrm>
          <a:prstGeom prst="rect">
            <a:avLst/>
          </a:prstGeom>
          <a:noFill/>
          <a:ln/>
        </p:spPr>
        <p:txBody>
          <a:bodyPr wrap="square" lIns="0" tIns="0" rIns="0" bIns="0" rtlCol="0" anchor="ctr"/>
          <a:lstStyle/>
          <a:p>
            <a:pPr algn="l" indent="0" marL="0">
              <a:lnSpc>
                <a:spcPct val="92000"/>
              </a:lnSpc>
              <a:buNone/>
            </a:pPr>
            <a:r>
              <a:rPr lang="en-US" sz="6400" b="1" dirty="0">
                <a:solidFill>
                  <a:srgbClr val="FFFFFF"/>
                </a:solidFill>
                <a:latin typeface="Helvetica Neue" pitchFamily="34" charset="0"/>
                <a:ea typeface="Helvetica Neue" pitchFamily="34" charset="-122"/>
                <a:cs typeface="Helvetica Neue" pitchFamily="34" charset="-120"/>
              </a:rPr>
              <a:t>Hal Finney</a:t>
            </a:r>
            <a:endParaRPr lang="en-US" sz="6400" dirty="0"/>
          </a:p>
        </p:txBody>
      </p:sp>
      <p:sp>
        <p:nvSpPr>
          <p:cNvPr id="4" name="plus"/>
          <p:cNvSpPr txBox="1"/>
          <p:nvPr/>
        </p:nvSpPr>
        <p:spPr>
          <a:xfrm>
            <a:off x="5440680" y="1371600"/>
            <a:ext cx="914400" cy="3566160"/>
          </a:xfrm>
          <a:prstGeom prst="rect">
            <a:avLst/>
          </a:prstGeom>
          <a:noFill/>
          <a:ln/>
        </p:spPr>
        <p:txBody>
          <a:bodyPr wrap="square" lIns="0" tIns="0" rIns="0" bIns="0" rtlCol="0" anchor="ctr"/>
          <a:lstStyle/>
          <a:p>
            <a:pPr algn="ctr" indent="0" marL="0">
              <a:buNone/>
            </a:pPr>
            <a:r>
              <a:rPr lang="en-US" sz="11000" b="1" dirty="0">
                <a:solidFill>
                  <a:srgbClr val="F7931A"/>
                </a:solidFill>
                <a:latin typeface="Helvetica Neue" pitchFamily="34" charset="0"/>
                <a:ea typeface="Helvetica Neue" pitchFamily="34" charset="-122"/>
                <a:cs typeface="Helvetica Neue" pitchFamily="34" charset="-120"/>
              </a:rPr>
              <a:t>+</a:t>
            </a:r>
            <a:endParaRPr lang="en-US" sz="11000" dirty="0"/>
          </a:p>
        </p:txBody>
      </p:sp>
      <p:sp>
        <p:nvSpPr>
          <p:cNvPr id="5" name="others"/>
          <p:cNvSpPr txBox="1"/>
          <p:nvPr/>
        </p:nvSpPr>
        <p:spPr>
          <a:xfrm>
            <a:off x="6629400" y="1371600"/>
            <a:ext cx="4922215" cy="3566160"/>
          </a:xfrm>
          <a:prstGeom prst="rect">
            <a:avLst/>
          </a:prstGeom>
          <a:noFill/>
          <a:ln/>
        </p:spPr>
        <p:txBody>
          <a:bodyPr wrap="square" lIns="0" tIns="0" rIns="0" bIns="0" rtlCol="0" anchor="ctr"/>
          <a:lstStyle/>
          <a:p>
            <a:pPr algn="l" indent="0" marL="0">
              <a:lnSpc>
                <a:spcPct val="100000"/>
              </a:lnSpc>
              <a:buNone/>
            </a:pPr>
            <a:r>
              <a:rPr lang="en-US" sz="1500" b="1" spc="300" kern="0" dirty="0">
                <a:solidFill>
                  <a:srgbClr val="8E8E93"/>
                </a:solidFill>
                <a:latin typeface="Helvetica Neue" pitchFamily="34" charset="0"/>
                <a:ea typeface="Helvetica Neue" pitchFamily="34" charset="-122"/>
                <a:cs typeface="Helvetica Neue" pitchFamily="34" charset="-120"/>
              </a:rPr>
              <a:t>ONE OR MORE OF</a:t>
            </a:r>
            <a:endParaRPr lang="en-US" sz="1500" dirty="0"/>
          </a:p>
          <a:p>
            <a:pPr algn="l" indent="0" marL="0">
              <a:lnSpc>
                <a:spcPct val="100000"/>
              </a:lnSpc>
              <a:spcBef>
                <a:spcPts val="1200"/>
              </a:spcBef>
              <a:buNone/>
            </a:pPr>
            <a:r>
              <a:rPr lang="en-US" sz="4800" b="1" dirty="0">
                <a:solidFill>
                  <a:srgbClr val="AEAEB2"/>
                </a:solidFill>
                <a:latin typeface="Helvetica Neue" pitchFamily="34" charset="0"/>
                <a:ea typeface="Helvetica Neue" pitchFamily="34" charset="-122"/>
                <a:cs typeface="Helvetica Neue" pitchFamily="34" charset="-120"/>
              </a:rPr>
              <a:t>Len Sassaman</a:t>
            </a:r>
            <a:endParaRPr lang="en-US" sz="1500" dirty="0"/>
          </a:p>
          <a:p>
            <a:pPr algn="l" indent="0" marL="0">
              <a:lnSpc>
                <a:spcPct val="100000"/>
              </a:lnSpc>
              <a:buNone/>
            </a:pPr>
            <a:r>
              <a:rPr lang="en-US" sz="4800" b="1" dirty="0">
                <a:solidFill>
                  <a:srgbClr val="AEAEB2"/>
                </a:solidFill>
                <a:latin typeface="Helvetica Neue" pitchFamily="34" charset="0"/>
                <a:ea typeface="Helvetica Neue" pitchFamily="34" charset="-122"/>
                <a:cs typeface="Helvetica Neue" pitchFamily="34" charset="-120"/>
              </a:rPr>
              <a:t>Nick Szabo</a:t>
            </a:r>
            <a:endParaRPr lang="en-US" sz="1500" dirty="0"/>
          </a:p>
          <a:p>
            <a:pPr algn="l" indent="0" marL="0">
              <a:lnSpc>
                <a:spcPct val="100000"/>
              </a:lnSpc>
              <a:buNone/>
            </a:pPr>
            <a:r>
              <a:rPr lang="en-US" sz="4800" b="1" dirty="0">
                <a:solidFill>
                  <a:srgbClr val="AEAEB2"/>
                </a:solidFill>
                <a:latin typeface="Helvetica Neue" pitchFamily="34" charset="0"/>
                <a:ea typeface="Helvetica Neue" pitchFamily="34" charset="-122"/>
                <a:cs typeface="Helvetica Neue" pitchFamily="34" charset="-120"/>
              </a:rPr>
              <a:t>Wei Dai</a:t>
            </a:r>
            <a:endParaRPr lang="en-US" sz="1500" dirty="0"/>
          </a:p>
        </p:txBody>
      </p:sp>
      <p:sp>
        <p:nvSpPr>
          <p:cNvPr id="6" name="sub"/>
          <p:cNvSpPr txBox="1"/>
          <p:nvPr/>
        </p:nvSpPr>
        <p:spPr>
          <a:xfrm>
            <a:off x="914400" y="4983480"/>
            <a:ext cx="10911535" cy="731520"/>
          </a:xfrm>
          <a:prstGeom prst="rect">
            <a:avLst/>
          </a:prstGeom>
          <a:noFill/>
          <a:ln/>
        </p:spPr>
        <p:txBody>
          <a:bodyPr wrap="square" lIns="0" tIns="0" rIns="0" bIns="0" rtlCol="0" anchor="ctr"/>
          <a:lstStyle/>
          <a:p>
            <a:pPr algn="l" indent="0" marL="0">
              <a:lnSpc>
                <a:spcPct val="110000"/>
              </a:lnSpc>
              <a:buNone/>
            </a:pPr>
            <a:r>
              <a:rPr lang="en-US" sz="3200" dirty="0">
                <a:solidFill>
                  <a:srgbClr val="AEAEB2"/>
                </a:solidFill>
                <a:latin typeface="Helvetica Neue Light" pitchFamily="34" charset="0"/>
                <a:ea typeface="Helvetica Neue Light" pitchFamily="34" charset="-122"/>
                <a:cs typeface="Helvetica Neue Light" pitchFamily="34" charset="-120"/>
              </a:rPr>
              <a:t>Possible.</a:t>
            </a:r>
            <a:pPr indent="0" marL="0">
              <a:buNone/>
            </a:pPr>
            <a:r>
              <a:rPr lang="en-US" sz="3200" dirty="0">
                <a:solidFill>
                  <a:srgbClr val="F7931A"/>
                </a:solidFill>
                <a:latin typeface="Helvetica Neue Light" pitchFamily="34" charset="0"/>
                <a:ea typeface="Helvetica Neue Light" pitchFamily="34" charset="-122"/>
                <a:cs typeface="Helvetica Neue Light" pitchFamily="34" charset="-120"/>
              </a:rPr>
              <a:t> Not proven.</a:t>
            </a:r>
            <a:endParaRPr lang="en-US" sz="3200" dirty="0"/>
          </a:p>
        </p:txBody>
      </p:sp>
      <p:sp>
        <p:nvSpPr>
          <p:cNvPr id="7" name="timeline"/>
          <p:cNvSpPr/>
          <p:nvPr/>
        </p:nvSpPr>
        <p:spPr>
          <a:xfrm>
            <a:off x="914400" y="6199632"/>
            <a:ext cx="10362895" cy="0"/>
          </a:xfrm>
          <a:prstGeom prst="line">
            <a:avLst/>
          </a:prstGeom>
          <a:noFill/>
          <a:ln w="12700">
            <a:solidFill>
              <a:srgbClr val="2C2C2E"/>
            </a:solidFill>
            <a:prstDash val="solid"/>
          </a:ln>
        </p:spPr>
      </p:sp>
      <p:sp>
        <p:nvSpPr>
          <p:cNvPr id="8"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9"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THEORY MEETS ITS LIMITS</a:t>
            </a:r>
            <a:endParaRPr lang="en-US" sz="1800" dirty="0"/>
          </a:p>
          <a:p>
            <a:pPr algn="l" indent="0" marL="0">
              <a:lnSpc>
                <a:spcPct val="105000"/>
              </a:lnSpc>
              <a:spcBef>
                <a:spcPts val="2600"/>
              </a:spcBef>
              <a:buNone/>
            </a:pPr>
            <a:r>
              <a:rPr lang="en-US" sz="4000" dirty="0">
                <a:solidFill>
                  <a:srgbClr val="FFFFFF"/>
                </a:solidFill>
                <a:latin typeface="Helvetica Neue Light" pitchFamily="34" charset="0"/>
                <a:ea typeface="Helvetica Neue Light" pitchFamily="34" charset="-122"/>
                <a:cs typeface="Helvetica Neue Light" pitchFamily="34" charset="-120"/>
              </a:rPr>
              <a:t>Hal</a:t>
            </a:r>
            <a:pPr indent="0" marL="0">
              <a:buNone/>
            </a:pPr>
            <a:r>
              <a:rPr lang="en-US" sz="4000" dirty="0">
                <a:solidFill>
                  <a:srgbClr val="F7931A"/>
                </a:solidFill>
                <a:latin typeface="Helvetica Neue Medium" pitchFamily="34" charset="0"/>
                <a:ea typeface="Helvetica Neue Medium" pitchFamily="34" charset="-122"/>
                <a:cs typeface="Helvetica Neue Medium" pitchFamily="34" charset="-120"/>
              </a:rPr>
              <a:t> denied</a:t>
            </a:r>
            <a:pPr indent="0" marL="0">
              <a:buNone/>
            </a:pPr>
            <a:r>
              <a:rPr lang="en-US" sz="4000" dirty="0">
                <a:solidFill>
                  <a:srgbClr val="FFFFFF"/>
                </a:solidFill>
                <a:latin typeface="Helvetica Neue Light" pitchFamily="34" charset="0"/>
                <a:ea typeface="Helvetica Neue Light" pitchFamily="34" charset="-122"/>
                <a:cs typeface="Helvetica Neue Light" pitchFamily="34" charset="-120"/>
              </a:rPr>
              <a:t> being Satoshi.</a:t>
            </a:r>
            <a:endParaRPr lang="en-US" sz="1800" dirty="0"/>
          </a:p>
          <a:p>
            <a:pPr algn="l" indent="0" marL="0">
              <a:lnSpc>
                <a:spcPct val="105000"/>
              </a:lnSpc>
              <a:spcBef>
                <a:spcPts val="2200"/>
              </a:spcBef>
              <a:buNone/>
            </a:pPr>
            <a:r>
              <a:rPr lang="en-US" sz="4000" dirty="0">
                <a:solidFill>
                  <a:srgbClr val="FFFFFF"/>
                </a:solidFill>
                <a:latin typeface="Helvetica Neue Light" pitchFamily="34" charset="0"/>
                <a:ea typeface="Helvetica Neue Light" pitchFamily="34" charset="-122"/>
                <a:cs typeface="Helvetica Neue Light" pitchFamily="34" charset="-120"/>
              </a:rPr>
              <a:t>His emails read like correspondence</a:t>
            </a:r>
            <a:endParaRPr lang="en-US" sz="1800" dirty="0"/>
          </a:p>
          <a:p>
            <a:pPr algn="l" indent="0" marL="0">
              <a:lnSpc>
                <a:spcPct val="105000"/>
              </a:lnSpc>
              <a:buNone/>
            </a:pPr>
            <a:r>
              <a:rPr lang="en-US" sz="4000" dirty="0">
                <a:solidFill>
                  <a:srgbClr val="FFFFFF"/>
                </a:solidFill>
                <a:latin typeface="Helvetica Neue Light" pitchFamily="34" charset="0"/>
                <a:ea typeface="Helvetica Neue Light" pitchFamily="34" charset="-122"/>
                <a:cs typeface="Helvetica Neue Light" pitchFamily="34" charset="-120"/>
              </a:rPr>
              <a:t>with</a:t>
            </a:r>
            <a:pPr indent="0" marL="0">
              <a:buNone/>
            </a:pPr>
            <a:r>
              <a:rPr lang="en-US" sz="4000" dirty="0">
                <a:solidFill>
                  <a:srgbClr val="F7931A"/>
                </a:solidFill>
                <a:latin typeface="Helvetica Neue Medium" pitchFamily="34" charset="0"/>
                <a:ea typeface="Helvetica Neue Medium" pitchFamily="34" charset="-122"/>
                <a:cs typeface="Helvetica Neue Medium" pitchFamily="34" charset="-120"/>
              </a:rPr>
              <a:t> another developer</a:t>
            </a:r>
            <a:pPr indent="0" marL="0">
              <a:buNone/>
            </a:pPr>
            <a:r>
              <a:rPr lang="en-US" sz="4000" dirty="0">
                <a:solidFill>
                  <a:srgbClr val="FFFFFF"/>
                </a:solidFill>
                <a:latin typeface="Helvetica Neue Light" pitchFamily="34" charset="0"/>
                <a:ea typeface="Helvetica Neue Light" pitchFamily="34" charset="-122"/>
                <a:cs typeface="Helvetica Neue Light" pitchFamily="34" charset="-120"/>
              </a:rPr>
              <a:t>.</a:t>
            </a:r>
            <a:endParaRPr lang="en-US" sz="1800" dirty="0"/>
          </a:p>
          <a:p>
            <a:pPr algn="l" indent="0" marL="0">
              <a:lnSpc>
                <a:spcPct val="105000"/>
              </a:lnSpc>
              <a:spcBef>
                <a:spcPts val="2200"/>
              </a:spcBef>
              <a:buNone/>
            </a:pPr>
            <a:r>
              <a:rPr lang="en-US" sz="4000" dirty="0">
                <a:solidFill>
                  <a:srgbClr val="FFFFFF"/>
                </a:solidFill>
                <a:latin typeface="Helvetica Neue Light" pitchFamily="34" charset="0"/>
                <a:ea typeface="Helvetica Neue Light" pitchFamily="34" charset="-122"/>
                <a:cs typeface="Helvetica Neue Light" pitchFamily="34" charset="-120"/>
              </a:rPr>
              <a:t>Len reportedly</a:t>
            </a:r>
            <a:pPr indent="0" marL="0">
              <a:buNone/>
            </a:pPr>
            <a:r>
              <a:rPr lang="en-US" sz="4000" dirty="0">
                <a:solidFill>
                  <a:srgbClr val="F7931A"/>
                </a:solidFill>
                <a:latin typeface="Helvetica Neue Medium" pitchFamily="34" charset="0"/>
                <a:ea typeface="Helvetica Neue Medium" pitchFamily="34" charset="-122"/>
                <a:cs typeface="Helvetica Neue Medium" pitchFamily="34" charset="-120"/>
              </a:rPr>
              <a:t> criticized</a:t>
            </a:r>
            <a:pPr indent="0" marL="0">
              <a:buNone/>
            </a:pPr>
            <a:r>
              <a:rPr lang="en-US" sz="4000" dirty="0">
                <a:solidFill>
                  <a:srgbClr val="FFFFFF"/>
                </a:solidFill>
                <a:latin typeface="Helvetica Neue Light" pitchFamily="34" charset="0"/>
                <a:ea typeface="Helvetica Neue Light" pitchFamily="34" charset="-122"/>
                <a:cs typeface="Helvetica Neue Light" pitchFamily="34" charset="-120"/>
              </a:rPr>
              <a:t> Bitcoin.</a:t>
            </a:r>
            <a:endParaRPr lang="en-US" sz="1800" dirty="0"/>
          </a:p>
          <a:p>
            <a:pPr algn="l" indent="0" marL="0">
              <a:lnSpc>
                <a:spcPct val="105000"/>
              </a:lnSpc>
              <a:spcBef>
                <a:spcPts val="2200"/>
              </a:spcBef>
              <a:buNone/>
            </a:pPr>
            <a:r>
              <a:rPr lang="en-US" sz="4000" dirty="0">
                <a:solidFill>
                  <a:srgbClr val="FFFFFF"/>
                </a:solidFill>
                <a:latin typeface="Helvetica Neue Light" pitchFamily="34" charset="0"/>
                <a:ea typeface="Helvetica Neue Light" pitchFamily="34" charset="-122"/>
                <a:cs typeface="Helvetica Neue Light" pitchFamily="34" charset="-120"/>
              </a:rPr>
              <a:t>Wei’s commit gap has</a:t>
            </a:r>
            <a:pPr indent="0" marL="0">
              <a:buNone/>
            </a:pPr>
            <a:r>
              <a:rPr lang="en-US" sz="4000" dirty="0">
                <a:solidFill>
                  <a:srgbClr val="F7931A"/>
                </a:solidFill>
                <a:latin typeface="Helvetica Neue Medium" pitchFamily="34" charset="0"/>
                <a:ea typeface="Helvetica Neue Medium" pitchFamily="34" charset="-122"/>
                <a:cs typeface="Helvetica Neue Medium" pitchFamily="34" charset="-120"/>
              </a:rPr>
              <a:t> innocent explanations</a:t>
            </a:r>
            <a:pPr indent="0" marL="0">
              <a:buNone/>
            </a:pPr>
            <a:r>
              <a:rPr lang="en-US" sz="4000" dirty="0">
                <a:solidFill>
                  <a:srgbClr val="FFFFFF"/>
                </a:solidFill>
                <a:latin typeface="Helvetica Neue Light" pitchFamily="34" charset="0"/>
                <a:ea typeface="Helvetica Neue Light" pitchFamily="34" charset="-122"/>
                <a:cs typeface="Helvetica Neue Light"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THE CASE IS NOT CLOSED</a:t>
            </a:r>
            <a:endParaRPr lang="en-US" sz="1800" dirty="0"/>
          </a:p>
          <a:p>
            <a:pPr algn="l" indent="0" marL="0">
              <a:lnSpc>
                <a:spcPct val="92000"/>
              </a:lnSpc>
              <a:spcBef>
                <a:spcPts val="810"/>
              </a:spcBef>
              <a:buNone/>
            </a:pPr>
            <a:r>
              <a:rPr lang="en-US" sz="6800" b="1" dirty="0">
                <a:solidFill>
                  <a:srgbClr val="FFFFFF"/>
                </a:solidFill>
                <a:latin typeface="Helvetica Neue" pitchFamily="34" charset="0"/>
                <a:ea typeface="Helvetica Neue" pitchFamily="34" charset="-122"/>
                <a:cs typeface="Helvetica Neue" pitchFamily="34" charset="-120"/>
              </a:rPr>
              <a:t>A compelling hypothesis</a:t>
            </a:r>
            <a:endParaRPr lang="en-US" sz="1800" dirty="0"/>
          </a:p>
          <a:p>
            <a:pPr algn="l" indent="0" marL="0">
              <a:lnSpc>
                <a:spcPct val="92000"/>
              </a:lnSpc>
              <a:buNone/>
            </a:pPr>
            <a:r>
              <a:rPr lang="en-US" sz="6800" b="1" dirty="0">
                <a:solidFill>
                  <a:srgbClr val="FFFFFF"/>
                </a:solidFill>
                <a:latin typeface="Helvetica Neue" pitchFamily="34" charset="0"/>
                <a:ea typeface="Helvetica Neue" pitchFamily="34" charset="-122"/>
                <a:cs typeface="Helvetica Neue" pitchFamily="34" charset="-120"/>
              </a:rPr>
              <a:t>is not</a:t>
            </a:r>
            <a:pPr indent="0" marL="0">
              <a:buNone/>
            </a:pPr>
            <a:r>
              <a:rPr lang="en-US" sz="6800" b="1" dirty="0">
                <a:solidFill>
                  <a:srgbClr val="F7931A"/>
                </a:solidFill>
                <a:latin typeface="Helvetica Neue" pitchFamily="34" charset="0"/>
                <a:ea typeface="Helvetica Neue" pitchFamily="34" charset="-122"/>
                <a:cs typeface="Helvetica Neue" pitchFamily="34" charset="-120"/>
              </a:rPr>
              <a:t> proof</a:t>
            </a:r>
            <a:pPr indent="0" marL="0">
              <a:buNone/>
            </a:pPr>
            <a:r>
              <a:rPr lang="en-US" sz="6800" b="1" dirty="0">
                <a:solidFill>
                  <a:srgbClr val="FFFFFF"/>
                </a:solidFill>
                <a:latin typeface="Helvetica Neue" pitchFamily="34" charset="0"/>
                <a:ea typeface="Helvetica Neue" pitchFamily="34" charset="-122"/>
                <a:cs typeface="Helvetica Neue" pitchFamily="34" charset="-120"/>
              </a:rPr>
              <a:t>.</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It competes with a simpler possibility:</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Satoshi was someone else.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CHAPTER VIII</a:t>
            </a:r>
            <a:endParaRPr lang="en-US" sz="1800" dirty="0"/>
          </a:p>
          <a:p>
            <a:pPr algn="l" indent="0" marL="0">
              <a:lnSpc>
                <a:spcPct val="92000"/>
              </a:lnSpc>
              <a:spcBef>
                <a:spcPts val="810"/>
              </a:spcBef>
              <a:buNone/>
            </a:pPr>
            <a:r>
              <a:rPr lang="en-US" sz="11600" b="1" dirty="0">
                <a:solidFill>
                  <a:srgbClr val="FFFFFF"/>
                </a:solidFill>
                <a:latin typeface="Helvetica Neue" pitchFamily="34" charset="0"/>
                <a:ea typeface="Helvetica Neue" pitchFamily="34" charset="-122"/>
                <a:cs typeface="Helvetica Neue" pitchFamily="34" charset="-120"/>
              </a:rPr>
              <a:t>Hal</a:t>
            </a:r>
            <a:endParaRPr lang="en-US" sz="1800" dirty="0"/>
          </a:p>
          <a:p>
            <a:pPr algn="l" indent="0" marL="0">
              <a:lnSpc>
                <a:spcPct val="110000"/>
              </a:lnSpc>
              <a:spcBef>
                <a:spcPts val="2000"/>
              </a:spcBef>
              <a:buNone/>
            </a:pPr>
            <a:r>
              <a:rPr lang="en-US" sz="3000" dirty="0">
                <a:solidFill>
                  <a:srgbClr val="AEAEB2"/>
                </a:solidFill>
                <a:latin typeface="Helvetica Neue Light" pitchFamily="34" charset="0"/>
                <a:ea typeface="Helvetica Neue Light" pitchFamily="34" charset="-122"/>
                <a:cs typeface="Helvetica Neue Light" pitchFamily="34" charset="-120"/>
              </a:rPr>
              <a:t>2009 – 2014</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range"/>
          <p:cNvSpPr/>
          <p:nvPr/>
        </p:nvSpPr>
        <p:spPr>
          <a:xfrm>
            <a:off x="10043617" y="6199632"/>
            <a:ext cx="1233678" cy="0"/>
          </a:xfrm>
          <a:prstGeom prst="line">
            <a:avLst/>
          </a:prstGeom>
          <a:noFill/>
          <a:ln w="31750">
            <a:solidFill>
              <a:srgbClr val="F7931A"/>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2009 · AGE 52</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The runner.</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As Bitcoin began, Hal was in</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excellent physical condition.</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0058202" y="6140196"/>
            <a:ext cx="118872" cy="118872"/>
          </a:xfrm>
          <a:prstGeom prst="ellipse">
            <a:avLst/>
          </a:prstGeom>
          <a:solidFill>
            <a:srgbClr val="F7931A"/>
          </a:solidFill>
          <a:ln/>
        </p:spPr>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2009 · AGE 53</a:t>
            </a:r>
            <a:endParaRPr lang="en-US" sz="1800" dirty="0"/>
          </a:p>
          <a:p>
            <a:pPr algn="l" indent="0" marL="0">
              <a:lnSpc>
                <a:spcPct val="86000"/>
              </a:lnSpc>
              <a:spcBef>
                <a:spcPts val="810"/>
              </a:spcBef>
              <a:buNone/>
            </a:pPr>
            <a:r>
              <a:rPr lang="en-US" sz="20000" b="1" dirty="0">
                <a:solidFill>
                  <a:srgbClr val="FFFFFF"/>
                </a:solidFill>
                <a:latin typeface="Helvetica Neue" pitchFamily="34" charset="0"/>
                <a:ea typeface="Helvetica Neue" pitchFamily="34" charset="-122"/>
                <a:cs typeface="Helvetica Neue" pitchFamily="34" charset="-120"/>
              </a:rPr>
              <a:t>ALS</a:t>
            </a:r>
            <a:endParaRPr lang="en-US" sz="1800" dirty="0"/>
          </a:p>
          <a:p>
            <a:pPr algn="l" indent="0" marL="0">
              <a:lnSpc>
                <a:spcPct val="110000"/>
              </a:lnSpc>
              <a:spcBef>
                <a:spcPts val="1600"/>
              </a:spcBef>
              <a:buNone/>
            </a:pPr>
            <a:r>
              <a:rPr lang="en-US" sz="3000" dirty="0">
                <a:solidFill>
                  <a:srgbClr val="AEAEB2"/>
                </a:solidFill>
                <a:latin typeface="Helvetica Neue Light" pitchFamily="34" charset="0"/>
                <a:ea typeface="Helvetica Neue Light" pitchFamily="34" charset="-122"/>
                <a:cs typeface="Helvetica Neue Light" pitchFamily="34" charset="-120"/>
              </a:rPr>
              <a:t>Seven months after Bitcoin’s launch.</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0132223" y="6140196"/>
            <a:ext cx="118872" cy="118872"/>
          </a:xfrm>
          <a:prstGeom prst="ellipse">
            <a:avLst/>
          </a:prstGeom>
          <a:solidFill>
            <a:srgbClr val="F7931A"/>
          </a:solidFill>
          <a:ln/>
        </p:spPr>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DECEMBER 2009</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The finish line.</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Fran turned a marathon into an ALS fundraiser.</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Hal joined the final stretch — and crossed the line.</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0218580" y="6140196"/>
            <a:ext cx="118872" cy="118872"/>
          </a:xfrm>
          <a:prstGeom prst="ellipse">
            <a:avLst/>
          </a:prstGeom>
          <a:solidFill>
            <a:srgbClr val="F7931A"/>
          </a:solidFill>
          <a:ln/>
        </p:spPr>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2013 · AGE 56</a:t>
            </a:r>
            <a:endParaRPr lang="en-US" sz="1800" dirty="0"/>
          </a:p>
          <a:p>
            <a:pPr algn="l" indent="0" marL="0">
              <a:lnSpc>
                <a:spcPct val="92000"/>
              </a:lnSpc>
              <a:spcBef>
                <a:spcPts val="810"/>
              </a:spcBef>
              <a:buNone/>
            </a:pPr>
            <a:r>
              <a:rPr lang="en-US" sz="9200" b="1" dirty="0">
                <a:solidFill>
                  <a:srgbClr val="FFFFFF"/>
                </a:solidFill>
                <a:latin typeface="Helvetica Neue" pitchFamily="34" charset="0"/>
                <a:ea typeface="Helvetica Neue" pitchFamily="34" charset="-122"/>
                <a:cs typeface="Helvetica Neue" pitchFamily="34" charset="-120"/>
              </a:rPr>
              <a:t>Bitcoin and Me</a:t>
            </a:r>
            <a:endParaRPr lang="en-US" sz="1800" dirty="0"/>
          </a:p>
          <a:p>
            <a:pPr algn="l" indent="0" marL="0">
              <a:lnSpc>
                <a:spcPct val="110000"/>
              </a:lnSpc>
              <a:spcBef>
                <a:spcPts val="3000"/>
              </a:spcBef>
              <a:buNone/>
            </a:pPr>
            <a:r>
              <a:rPr lang="en-US" sz="3600" dirty="0">
                <a:solidFill>
                  <a:srgbClr val="AEAEB2"/>
                </a:solidFill>
                <a:latin typeface="Helvetica Neue Light" pitchFamily="34" charset="0"/>
                <a:ea typeface="Helvetica Neue Light" pitchFamily="34" charset="-122"/>
                <a:cs typeface="Helvetica Neue Light" pitchFamily="34" charset="-120"/>
              </a:rPr>
              <a:t>Written with assistive technology. He</a:t>
            </a:r>
            <a:endParaRPr lang="en-US" sz="1800" dirty="0"/>
          </a:p>
          <a:p>
            <a:pPr algn="l" indent="0" marL="0">
              <a:lnSpc>
                <a:spcPct val="110000"/>
              </a:lnSpc>
              <a:buNone/>
            </a:pPr>
            <a:r>
              <a:rPr lang="en-US" sz="3600" dirty="0">
                <a:solidFill>
                  <a:srgbClr val="AEAEB2"/>
                </a:solidFill>
                <a:latin typeface="Helvetica Neue Light" pitchFamily="34" charset="0"/>
                <a:ea typeface="Helvetica Neue Light" pitchFamily="34" charset="-122"/>
                <a:cs typeface="Helvetica Neue Light" pitchFamily="34" charset="-120"/>
              </a:rPr>
              <a:t>wrote about Satoshi as</a:t>
            </a:r>
            <a:pPr indent="0" marL="0">
              <a:buNone/>
            </a:pPr>
            <a:r>
              <a:rPr lang="en-US" sz="3600" dirty="0">
                <a:solidFill>
                  <a:srgbClr val="F7931A"/>
                </a:solidFill>
                <a:latin typeface="Helvetica Neue Light" pitchFamily="34" charset="0"/>
                <a:ea typeface="Helvetica Neue Light" pitchFamily="34" charset="-122"/>
                <a:cs typeface="Helvetica Neue Light" pitchFamily="34" charset="-120"/>
              </a:rPr>
              <a:t> someone else</a:t>
            </a:r>
            <a:pPr indent="0" marL="0">
              <a:buNone/>
            </a:pPr>
            <a:r>
              <a:rPr lang="en-US" sz="3600" dirty="0">
                <a:solidFill>
                  <a:srgbClr val="AEAEB2"/>
                </a:solidFill>
                <a:latin typeface="Helvetica Neue Light" pitchFamily="34" charset="0"/>
                <a:ea typeface="Helvetica Neue Light" pitchFamily="34" charset="-122"/>
                <a:cs typeface="Helvetica Neue Light" pitchFamily="34" charset="-120"/>
              </a:rPr>
              <a:t>.</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1020471" y="6140196"/>
            <a:ext cx="118872" cy="118872"/>
          </a:xfrm>
          <a:prstGeom prst="ellipse">
            <a:avLst/>
          </a:prstGeom>
          <a:solidFill>
            <a:srgbClr val="F7931A"/>
          </a:solidFill>
          <a:ln/>
        </p:spPr>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photo" descr="/Users/fredkrueger/satoshi/assets/hal-and-fran.jpg">    </p:cNvPr>
          <p:cNvPicPr>
            <a:picLocks noChangeAspect="1"/>
          </p:cNvPicPr>
          <p:nvPr/>
        </p:nvPicPr>
        <p:blipFill>
          <a:blip r:embed="rId1"/>
          <a:stretch>
            <a:fillRect/>
          </a:stretch>
        </p:blipFill>
        <p:spPr>
          <a:xfrm>
            <a:off x="6675120" y="1447664"/>
            <a:ext cx="5105095" cy="3414032"/>
          </a:xfrm>
          <a:prstGeom prst="rect">
            <a:avLst/>
          </a:prstGeom>
        </p:spPr>
      </p:pic>
      <p:sp>
        <p:nvSpPr>
          <p:cNvPr id="3" name="text"/>
          <p:cNvSpPr txBox="1"/>
          <p:nvPr/>
        </p:nvSpPr>
        <p:spPr>
          <a:xfrm>
            <a:off x="914400" y="502920"/>
            <a:ext cx="5852160"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AUGUST 28, 2014</a:t>
            </a:r>
            <a:endParaRPr lang="en-US" sz="1800" dirty="0"/>
          </a:p>
          <a:p>
            <a:pPr algn="l" indent="0" marL="0">
              <a:lnSpc>
                <a:spcPct val="92000"/>
              </a:lnSpc>
              <a:spcBef>
                <a:spcPts val="810"/>
              </a:spcBef>
              <a:buNone/>
            </a:pPr>
            <a:r>
              <a:rPr lang="en-US" sz="6000" b="1" dirty="0">
                <a:solidFill>
                  <a:srgbClr val="FFFFFF"/>
                </a:solidFill>
                <a:latin typeface="Helvetica Neue" pitchFamily="34" charset="0"/>
                <a:ea typeface="Helvetica Neue" pitchFamily="34" charset="-122"/>
                <a:cs typeface="Helvetica Neue" pitchFamily="34" charset="-120"/>
              </a:rPr>
              <a:t>Hal Finney</a:t>
            </a:r>
            <a:endParaRPr lang="en-US" sz="1800" dirty="0"/>
          </a:p>
          <a:p>
            <a:pPr algn="l" indent="0" marL="0">
              <a:lnSpc>
                <a:spcPct val="92000"/>
              </a:lnSpc>
              <a:buNone/>
            </a:pPr>
            <a:r>
              <a:rPr lang="en-US" sz="6000" b="1" dirty="0">
                <a:solidFill>
                  <a:srgbClr val="FFFFFF"/>
                </a:solidFill>
                <a:latin typeface="Helvetica Neue" pitchFamily="34" charset="0"/>
                <a:ea typeface="Helvetica Neue" pitchFamily="34" charset="-122"/>
                <a:cs typeface="Helvetica Neue" pitchFamily="34" charset="-120"/>
              </a:rPr>
              <a:t>1956 – 2014</a:t>
            </a:r>
            <a:endParaRPr lang="en-US" sz="1800" dirty="0"/>
          </a:p>
          <a:p>
            <a:pPr algn="l" indent="0" marL="0">
              <a:lnSpc>
                <a:spcPct val="110000"/>
              </a:lnSpc>
              <a:spcBef>
                <a:spcPts val="2200"/>
              </a:spcBef>
              <a:buNone/>
            </a:pPr>
            <a:r>
              <a:rPr lang="en-US" sz="2600" dirty="0">
                <a:solidFill>
                  <a:srgbClr val="AEAEB2"/>
                </a:solidFill>
                <a:latin typeface="Helvetica Neue Light" pitchFamily="34" charset="0"/>
                <a:ea typeface="Helvetica Neue Light" pitchFamily="34" charset="-122"/>
                <a:cs typeface="Helvetica Neue Light" pitchFamily="34" charset="-120"/>
              </a:rPr>
              <a:t>Encryption for ordinary people. A</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working digital-cash experiment.</a:t>
            </a:r>
            <a:endParaRPr lang="en-US" sz="1800" dirty="0"/>
          </a:p>
          <a:p>
            <a:pPr algn="l" indent="0" marL="0">
              <a:lnSpc>
                <a:spcPct val="110000"/>
              </a:lnSpc>
              <a:buNone/>
            </a:pPr>
            <a:r>
              <a:rPr lang="en-US" sz="2600" dirty="0">
                <a:solidFill>
                  <a:srgbClr val="AEAEB2"/>
                </a:solidFill>
                <a:latin typeface="Helvetica Neue Light" pitchFamily="34" charset="0"/>
                <a:ea typeface="Helvetica Neue Light" pitchFamily="34" charset="-122"/>
                <a:cs typeface="Helvetica Neue Light" pitchFamily="34" charset="-120"/>
              </a:rPr>
              <a:t>One of Bitcoin’s first advocates.</a:t>
            </a:r>
            <a:endParaRPr lang="en-US" sz="1800" dirty="0"/>
          </a:p>
        </p:txBody>
      </p:sp>
      <p:sp>
        <p:nvSpPr>
          <p:cNvPr id="4" name="timeline"/>
          <p:cNvSpPr/>
          <p:nvPr/>
        </p:nvSpPr>
        <p:spPr>
          <a:xfrm>
            <a:off x="914400" y="6199632"/>
            <a:ext cx="10362895" cy="0"/>
          </a:xfrm>
          <a:prstGeom prst="line">
            <a:avLst/>
          </a:prstGeom>
          <a:noFill/>
          <a:ln w="12700">
            <a:solidFill>
              <a:srgbClr val="2C2C2E"/>
            </a:solidFill>
            <a:prstDash val="solid"/>
          </a:ln>
        </p:spPr>
      </p:sp>
      <p:sp>
        <p:nvSpPr>
          <p:cNvPr id="5"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6"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7" name="timeline-now"/>
          <p:cNvSpPr/>
          <p:nvPr/>
        </p:nvSpPr>
        <p:spPr>
          <a:xfrm>
            <a:off x="11217859" y="6140196"/>
            <a:ext cx="118872" cy="118872"/>
          </a:xfrm>
          <a:prstGeom prst="ellipse">
            <a:avLst/>
          </a:prstGeom>
          <a:solidFill>
            <a:srgbClr val="F7931A"/>
          </a:solidFill>
          <a:ln/>
        </p:spPr>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p:cNvSpPr txBox="1"/>
          <p:nvPr/>
        </p:nvSpPr>
        <p:spPr>
          <a:xfrm>
            <a:off x="914400" y="502920"/>
            <a:ext cx="10911535" cy="5349240"/>
          </a:xfrm>
          <a:prstGeom prst="rect">
            <a:avLst/>
          </a:prstGeom>
          <a:noFill/>
          <a:ln/>
        </p:spPr>
        <p:txBody>
          <a:bodyPr wrap="square" lIns="0" tIns="0" rIns="0" bIns="0" rtlCol="0" anchor="ctr"/>
          <a:lstStyle/>
          <a:p>
            <a:pPr algn="l" indent="0" marL="0">
              <a:lnSpc>
                <a:spcPct val="100000"/>
              </a:lnSpc>
              <a:buNone/>
            </a:pPr>
            <a:r>
              <a:rPr lang="en-US" sz="1800" b="1" spc="300" kern="0" dirty="0">
                <a:solidFill>
                  <a:srgbClr val="F7931A"/>
                </a:solidFill>
                <a:latin typeface="Helvetica Neue" pitchFamily="34" charset="0"/>
                <a:ea typeface="Helvetica Neue" pitchFamily="34" charset="-122"/>
                <a:cs typeface="Helvetica Neue" pitchFamily="34" charset="-120"/>
              </a:rPr>
              <a:t>WHO WAS SATOSHI? · STILL UNRESOLVED</a:t>
            </a:r>
            <a:endParaRPr lang="en-US" sz="1800" dirty="0"/>
          </a:p>
          <a:p>
            <a:pPr algn="l" indent="0" marL="0">
              <a:lnSpc>
                <a:spcPct val="92000"/>
              </a:lnSpc>
              <a:spcBef>
                <a:spcPts val="810"/>
              </a:spcBef>
              <a:buNone/>
            </a:pPr>
            <a:r>
              <a:rPr lang="en-US" sz="8000" b="1" dirty="0">
                <a:solidFill>
                  <a:srgbClr val="FFFFFF"/>
                </a:solidFill>
                <a:latin typeface="Helvetica Neue" pitchFamily="34" charset="0"/>
                <a:ea typeface="Helvetica Neue" pitchFamily="34" charset="-122"/>
                <a:cs typeface="Helvetica Neue" pitchFamily="34" charset="-120"/>
              </a:rPr>
              <a:t>His documented</a:t>
            </a:r>
            <a:endParaRPr lang="en-US" sz="1800" dirty="0"/>
          </a:p>
          <a:p>
            <a:pPr algn="l" indent="0" marL="0">
              <a:lnSpc>
                <a:spcPct val="92000"/>
              </a:lnSpc>
              <a:buNone/>
            </a:pPr>
            <a:r>
              <a:rPr lang="en-US" sz="8000" b="1" dirty="0">
                <a:solidFill>
                  <a:srgbClr val="FFFFFF"/>
                </a:solidFill>
                <a:latin typeface="Helvetica Neue" pitchFamily="34" charset="0"/>
                <a:ea typeface="Helvetica Neue" pitchFamily="34" charset="-122"/>
                <a:cs typeface="Helvetica Neue" pitchFamily="34" charset="-120"/>
              </a:rPr>
              <a:t>achievements need</a:t>
            </a:r>
            <a:endParaRPr lang="en-US" sz="1800" dirty="0"/>
          </a:p>
          <a:p>
            <a:pPr algn="l" indent="0" marL="0">
              <a:lnSpc>
                <a:spcPct val="92000"/>
              </a:lnSpc>
              <a:buNone/>
            </a:pPr>
            <a:r>
              <a:rPr lang="en-US" sz="8000" b="1" dirty="0">
                <a:solidFill>
                  <a:srgbClr val="F7931A"/>
                </a:solidFill>
                <a:latin typeface="Helvetica Neue" pitchFamily="34" charset="0"/>
                <a:ea typeface="Helvetica Neue" pitchFamily="34" charset="-122"/>
                <a:cs typeface="Helvetica Neue" pitchFamily="34" charset="-120"/>
              </a:rPr>
              <a:t>no mystery</a:t>
            </a:r>
            <a:pPr indent="0" marL="0">
              <a:buNone/>
            </a:pPr>
            <a:r>
              <a:rPr lang="en-US" sz="8000" b="1" dirty="0">
                <a:solidFill>
                  <a:srgbClr val="FFFFFF"/>
                </a:solidFill>
                <a:latin typeface="Helvetica Neue" pitchFamily="34" charset="0"/>
                <a:ea typeface="Helvetica Neue" pitchFamily="34" charset="-122"/>
                <a:cs typeface="Helvetica Neue" pitchFamily="34" charset="-120"/>
              </a:rPr>
              <a:t> to matter.</a:t>
            </a:r>
            <a:endParaRPr lang="en-US" sz="1800" dirty="0"/>
          </a:p>
        </p:txBody>
      </p:sp>
      <p:sp>
        <p:nvSpPr>
          <p:cNvPr id="3" name="timeline"/>
          <p:cNvSpPr/>
          <p:nvPr/>
        </p:nvSpPr>
        <p:spPr>
          <a:xfrm>
            <a:off x="914400" y="6199632"/>
            <a:ext cx="10362895" cy="0"/>
          </a:xfrm>
          <a:prstGeom prst="line">
            <a:avLst/>
          </a:prstGeom>
          <a:noFill/>
          <a:ln w="12700">
            <a:solidFill>
              <a:srgbClr val="2C2C2E"/>
            </a:solidFill>
            <a:prstDash val="solid"/>
          </a:ln>
        </p:spPr>
      </p:sp>
      <p:sp>
        <p:nvSpPr>
          <p:cNvPr id="4" name="timeline-from"/>
          <p:cNvSpPr txBox="1"/>
          <p:nvPr/>
        </p:nvSpPr>
        <p:spPr>
          <a:xfrm>
            <a:off x="914400" y="6291072"/>
            <a:ext cx="914400" cy="228600"/>
          </a:xfrm>
          <a:prstGeom prst="rect">
            <a:avLst/>
          </a:prstGeom>
          <a:noFill/>
          <a:ln/>
        </p:spPr>
        <p:txBody>
          <a:bodyPr wrap="square" lIns="0" tIns="0" rIns="0" bIns="0" rtlCol="0" anchor="t"/>
          <a:lstStyle/>
          <a:p>
            <a:pPr algn="l"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1972</a:t>
            </a:r>
            <a:endParaRPr lang="en-US" sz="1100" dirty="0"/>
          </a:p>
        </p:txBody>
      </p:sp>
      <p:sp>
        <p:nvSpPr>
          <p:cNvPr id="5" name="timeline-to"/>
          <p:cNvSpPr txBox="1"/>
          <p:nvPr/>
        </p:nvSpPr>
        <p:spPr>
          <a:xfrm>
            <a:off x="10362895" y="6291072"/>
            <a:ext cx="914400" cy="228600"/>
          </a:xfrm>
          <a:prstGeom prst="rect">
            <a:avLst/>
          </a:prstGeom>
          <a:noFill/>
          <a:ln/>
        </p:spPr>
        <p:txBody>
          <a:bodyPr wrap="square" lIns="0" tIns="0" rIns="0" bIns="0" rtlCol="0" anchor="t"/>
          <a:lstStyle/>
          <a:p>
            <a:pPr algn="r" indent="0" marL="0">
              <a:buNone/>
            </a:pPr>
            <a:r>
              <a:rPr lang="en-US" sz="1100" dirty="0">
                <a:solidFill>
                  <a:srgbClr val="48484A"/>
                </a:solidFill>
                <a:latin typeface="Helvetica Neue Light" pitchFamily="34" charset="0"/>
                <a:ea typeface="Helvetica Neue Light" pitchFamily="34" charset="-122"/>
                <a:cs typeface="Helvetica Neue Light" pitchFamily="34" charset="-120"/>
              </a:rPr>
              <a:t>2014</a:t>
            </a:r>
            <a:endParaRPr lang="en-US" sz="1100" dirty="0"/>
          </a:p>
        </p:txBody>
      </p:sp>
      <p:sp>
        <p:nvSpPr>
          <p:cNvPr id="6" name="timeline-now"/>
          <p:cNvSpPr/>
          <p:nvPr/>
        </p:nvSpPr>
        <p:spPr>
          <a:xfrm>
            <a:off x="11217859" y="6140196"/>
            <a:ext cx="118872" cy="118872"/>
          </a:xfrm>
          <a:prstGeom prst="ellipse">
            <a:avLst/>
          </a:prstGeom>
          <a:solidFill>
            <a:srgbClr val="F7931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Was Satoshi?</dc:title>
  <dc:subject>PptxGenJS Presentation</dc:subject>
  <dc:creator>PptxGenJS</dc:creator>
  <cp:lastModifiedBy>PptxGenJS</cp:lastModifiedBy>
  <cp:revision>1</cp:revision>
  <dcterms:created xsi:type="dcterms:W3CDTF">2026-10-16T00:13:50Z</dcterms:created>
  <dcterms:modified xsi:type="dcterms:W3CDTF">2026-10-16T00:13:50Z</dcterms:modified>
</cp:coreProperties>
</file>